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BA73-2A82-504B-393A-6007F6FF4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36BD6-9E74-3BB6-1803-593449B62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3293A-BBB6-8E31-EA65-39C1F2E0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15C8B-B6B7-60BD-2DE0-BD0A19BF1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47092-A6D5-2119-7C71-5A3B1E3B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397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11DC7-B114-3D4E-7298-7546E78C6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28A3D-7D86-0B6D-50BF-A3B3F62CA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BE4A1-15FE-299B-C01B-173AADAF9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1FB37-7A68-1A94-BB3A-E253D0DF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B560E-6FB1-D4FC-A84B-F9967A967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66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3A00-1C1D-9D52-73FC-49AECC9CA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A3ED9-6044-D297-749C-FEA5DE4E9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F647E-E686-FFDD-FFF6-B43A9FCE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E3048-BB67-9266-86D6-879AE30D4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56772-1191-4ADF-209F-2B71A14ED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49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C63A-136A-EC1B-54D7-BCE8D5D0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264F7-DA9E-CB14-1BED-06404BDCC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7DDAB-5222-9081-91CC-7FF935880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A37D3-713A-A0E7-CBB7-67CEB18A8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310F1-FEBA-0077-4FA4-A535FF78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24397-AE1A-BD09-EBD5-091A641D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867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E3E5-BAEA-645A-2189-4E18BE9CE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26667-5D80-F322-D417-6211E3EFA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FC9C4-C63E-B95D-EC92-9373388E2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2DF93-B109-298C-77E0-78A9DCBEB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BE970-FAAE-D0DE-87A2-F4285688B9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8D507-D96D-4FA9-B026-EC6AC1621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C2033-2ED1-C837-AA64-DAD7115B6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9BCE6-66C5-BFA3-E3E2-03FF8744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28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68F9-54EC-748C-3723-58EDEFA6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93463-836C-57E1-99DF-2FCC9525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07A12-C5D8-CC3F-B93C-EBB5FADD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1FD50-8A5D-CD53-9E15-C7A26896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41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DDFBE0-0A7D-9673-BFC9-CDEF7130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D05358-3DF8-D122-1B16-14F1F02A9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1196A-8643-860D-C81A-0FDB260A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169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2659-30E1-01FF-4FA6-956814575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7A70C-B0C1-E15F-7162-DD23CB50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203A6-79A1-AFB3-EC42-06077CCDB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EE181-1D59-91DC-EDEE-AA0D2F36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D77CB-9579-B3A3-6CB0-822583107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5669B-6256-F26E-761F-B1FB7CBD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27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F9D8B-B04A-082B-A9B4-813EADB9A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04749-CA4D-6E63-A5D6-CFCE43E5A2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93134-6D99-52F3-F4B0-5E9B04634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FEBE2-31C5-4070-88D0-B93FBD7C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C3935-3DDD-1D64-43C4-237649647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CC454-6C43-17A5-B83E-CFB57D91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642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5400A-A770-79B6-7166-EF093D69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2F7AC-05C9-D9BA-3942-45CAF387B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B2CBD-EAFD-3C6B-97DD-E2A57605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84996-832A-65F4-3CF7-F6F837EB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527AE-19AD-6551-55BC-7721F9A81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954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F2C58B-0AC7-2164-CF5E-84EED4DA6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E5D34-3E4F-4F24-F4EC-5665420C1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A6836-0D9B-203D-463E-4A29F155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EF987-CA2D-756F-CADF-806631C8D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DB874-3DB8-1BB8-6119-3399DD0B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23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685C9D-3895-1814-2366-52C43AF2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3B013-A01B-C710-358A-789AD7287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685D6-DBD6-5A45-19E8-D0DA86AC2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463B1-BA20-4FFC-B8AE-A16EA73B19ED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FD7D6-E162-5B2C-D64A-22568038A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E6ABE-E42D-5525-729F-B6A137BCE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7BCC6-A82D-4F73-AD75-10DAC72D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26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38E568-B610-B58B-DE5B-94A92A611043}"/>
              </a:ext>
            </a:extLst>
          </p:cNvPr>
          <p:cNvSpPr/>
          <p:nvPr/>
        </p:nvSpPr>
        <p:spPr>
          <a:xfrm>
            <a:off x="2017336" y="1659117"/>
            <a:ext cx="1263192" cy="12992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Working directory</a:t>
            </a:r>
            <a:endParaRPr lang="en-GB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6C60C6-3027-13FA-B9D8-CD85BAF6BC1D}"/>
              </a:ext>
            </a:extLst>
          </p:cNvPr>
          <p:cNvSpPr/>
          <p:nvPr/>
        </p:nvSpPr>
        <p:spPr>
          <a:xfrm>
            <a:off x="5692866" y="1659117"/>
            <a:ext cx="1263192" cy="12992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Staging area</a:t>
            </a:r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C6E982-8DF3-E986-6976-8038A9D38F7A}"/>
              </a:ext>
            </a:extLst>
          </p:cNvPr>
          <p:cNvSpPr/>
          <p:nvPr/>
        </p:nvSpPr>
        <p:spPr>
          <a:xfrm>
            <a:off x="9368396" y="1659117"/>
            <a:ext cx="1263192" cy="12992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Git repository</a:t>
            </a:r>
            <a:endParaRPr lang="en-GB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C28A78-3A3A-7638-3E45-E45C8C88BE0B}"/>
              </a:ext>
            </a:extLst>
          </p:cNvPr>
          <p:cNvSpPr/>
          <p:nvPr/>
        </p:nvSpPr>
        <p:spPr>
          <a:xfrm>
            <a:off x="2017336" y="3318699"/>
            <a:ext cx="1263192" cy="383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 err="1"/>
              <a:t>unstaged</a:t>
            </a:r>
            <a:endParaRPr lang="en-GB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A82169-97CA-63EF-8707-D3C07A757CF0}"/>
              </a:ext>
            </a:extLst>
          </p:cNvPr>
          <p:cNvSpPr/>
          <p:nvPr/>
        </p:nvSpPr>
        <p:spPr>
          <a:xfrm>
            <a:off x="5692866" y="3318699"/>
            <a:ext cx="1263192" cy="383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staged</a:t>
            </a:r>
            <a:endParaRPr lang="en-GB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14D7B3-72B8-16C4-A64F-6E8946F12C92}"/>
              </a:ext>
            </a:extLst>
          </p:cNvPr>
          <p:cNvSpPr/>
          <p:nvPr/>
        </p:nvSpPr>
        <p:spPr>
          <a:xfrm>
            <a:off x="9368396" y="3318699"/>
            <a:ext cx="1263192" cy="383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committed</a:t>
            </a:r>
            <a:endParaRPr lang="en-GB" sz="1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40AC24-46DB-321B-082B-72B3F6D4187A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377455" y="1921800"/>
            <a:ext cx="652042" cy="5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21BAA5F-4233-9314-EB48-2A0896E0849F}"/>
              </a:ext>
            </a:extLst>
          </p:cNvPr>
          <p:cNvSpPr txBox="1"/>
          <p:nvPr/>
        </p:nvSpPr>
        <p:spPr>
          <a:xfrm>
            <a:off x="4658609" y="2043934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add &lt;file&gt;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F49FF7-BF0F-9449-8967-93D8E2AB0853}"/>
              </a:ext>
            </a:extLst>
          </p:cNvPr>
          <p:cNvSpPr txBox="1"/>
          <p:nvPr/>
        </p:nvSpPr>
        <p:spPr>
          <a:xfrm>
            <a:off x="8306163" y="1989123"/>
            <a:ext cx="1105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git commit –m “message”</a:t>
            </a:r>
            <a:endParaRPr lang="en-GB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386D0B-8797-7D52-DEFA-62EAF988E4B6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7052985" y="1861296"/>
            <a:ext cx="6520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887CEBB-F10C-90AA-ACE3-B1B02CA37A8F}"/>
              </a:ext>
            </a:extLst>
          </p:cNvPr>
          <p:cNvSpPr/>
          <p:nvPr/>
        </p:nvSpPr>
        <p:spPr>
          <a:xfrm>
            <a:off x="2026301" y="5805992"/>
            <a:ext cx="1263192" cy="2670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git log --graph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D0551A1-ED8E-4D8E-4C7C-6DECBAC62846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 rot="5400000" flipH="1" flipV="1">
            <a:off x="6324462" y="-2016413"/>
            <a:ext cx="12700" cy="735106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024FB21-DCEA-134B-2A01-F581342A7969}"/>
              </a:ext>
            </a:extLst>
          </p:cNvPr>
          <p:cNvSpPr txBox="1"/>
          <p:nvPr/>
        </p:nvSpPr>
        <p:spPr>
          <a:xfrm>
            <a:off x="5692867" y="832748"/>
            <a:ext cx="2012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git commit –am “Message” (staged files)</a:t>
            </a:r>
            <a:endParaRPr lang="en-GB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7CC788-104F-C4DE-549C-C7E913F36E50}"/>
              </a:ext>
            </a:extLst>
          </p:cNvPr>
          <p:cNvSpPr/>
          <p:nvPr/>
        </p:nvSpPr>
        <p:spPr>
          <a:xfrm>
            <a:off x="2023686" y="6159487"/>
            <a:ext cx="1263192" cy="2670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git show</a:t>
            </a:r>
            <a:endParaRPr lang="en-GB" sz="1200" dirty="0"/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BC20A503-1749-7DC5-DD58-20CCAEE68ABE}"/>
              </a:ext>
            </a:extLst>
          </p:cNvPr>
          <p:cNvSpPr/>
          <p:nvPr/>
        </p:nvSpPr>
        <p:spPr>
          <a:xfrm>
            <a:off x="4029497" y="1470209"/>
            <a:ext cx="914400" cy="9144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2FA4E4-5D46-9819-63BB-567BCA509B92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4943897" y="1927409"/>
            <a:ext cx="580321" cy="13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D6A49FF-6503-3136-BAAF-F5AE12370114}"/>
              </a:ext>
            </a:extLst>
          </p:cNvPr>
          <p:cNvSpPr txBox="1"/>
          <p:nvPr/>
        </p:nvSpPr>
        <p:spPr>
          <a:xfrm>
            <a:off x="4180214" y="1646140"/>
            <a:ext cx="595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chemeClr val="bg1"/>
                </a:solidFill>
              </a:rPr>
              <a:t>git diff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823470-C336-1C27-A0C6-57EF1A2E8E81}"/>
              </a:ext>
            </a:extLst>
          </p:cNvPr>
          <p:cNvSpPr txBox="1"/>
          <p:nvPr/>
        </p:nvSpPr>
        <p:spPr>
          <a:xfrm>
            <a:off x="4102750" y="1860138"/>
            <a:ext cx="805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chemeClr val="bg1"/>
                </a:solidFill>
              </a:rPr>
              <a:t>git add -p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B15D9165-E5EC-53E1-9C7E-45B2E30D0F74}"/>
              </a:ext>
            </a:extLst>
          </p:cNvPr>
          <p:cNvSpPr/>
          <p:nvPr/>
        </p:nvSpPr>
        <p:spPr>
          <a:xfrm>
            <a:off x="7705027" y="1404096"/>
            <a:ext cx="914400" cy="9144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55D152-2209-6DA3-75DB-C0A3D4014FFE}"/>
              </a:ext>
            </a:extLst>
          </p:cNvPr>
          <p:cNvSpPr txBox="1"/>
          <p:nvPr/>
        </p:nvSpPr>
        <p:spPr>
          <a:xfrm>
            <a:off x="7801954" y="1610284"/>
            <a:ext cx="738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chemeClr val="bg1"/>
                </a:solidFill>
              </a:rPr>
              <a:t>git diff </a:t>
            </a:r>
          </a:p>
          <a:p>
            <a:r>
              <a:rPr lang="en-AU" sz="1200" dirty="0">
                <a:solidFill>
                  <a:schemeClr val="bg1"/>
                </a:solidFill>
              </a:rPr>
              <a:t>--staged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3B843AC-B7E6-83F8-7A08-9B76AEE94466}"/>
              </a:ext>
            </a:extLst>
          </p:cNvPr>
          <p:cNvSpPr/>
          <p:nvPr/>
        </p:nvSpPr>
        <p:spPr>
          <a:xfrm>
            <a:off x="2017335" y="4622060"/>
            <a:ext cx="4957289" cy="2670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git rm &lt;file&gt;</a:t>
            </a:r>
            <a:endParaRPr lang="en-GB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B0A7BA0-35AA-FF12-A03C-F11A0401C340}"/>
              </a:ext>
            </a:extLst>
          </p:cNvPr>
          <p:cNvSpPr/>
          <p:nvPr/>
        </p:nvSpPr>
        <p:spPr>
          <a:xfrm>
            <a:off x="2035903" y="5390775"/>
            <a:ext cx="4938722" cy="2670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git mv &lt;</a:t>
            </a:r>
            <a:r>
              <a:rPr lang="en-AU" sz="1200" dirty="0" err="1"/>
              <a:t>file_old</a:t>
            </a:r>
            <a:r>
              <a:rPr lang="en-AU" sz="1200" dirty="0"/>
              <a:t>&gt; &lt;</a:t>
            </a:r>
            <a:r>
              <a:rPr lang="en-AU" sz="1200" dirty="0" err="1"/>
              <a:t>file_new</a:t>
            </a:r>
            <a:r>
              <a:rPr lang="en-AU" sz="1200" dirty="0"/>
              <a:t>&gt;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54CEFC-3605-24A2-B5C8-2383DAC3008A}"/>
              </a:ext>
            </a:extLst>
          </p:cNvPr>
          <p:cNvSpPr txBox="1"/>
          <p:nvPr/>
        </p:nvSpPr>
        <p:spPr>
          <a:xfrm>
            <a:off x="3717974" y="2654692"/>
            <a:ext cx="12495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restore &lt;file&gt;</a:t>
            </a:r>
            <a:endParaRPr lang="en-GB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D1FD5C-0991-8192-11CB-DBF42BFEDA0D}"/>
              </a:ext>
            </a:extLst>
          </p:cNvPr>
          <p:cNvSpPr txBox="1"/>
          <p:nvPr/>
        </p:nvSpPr>
        <p:spPr>
          <a:xfrm>
            <a:off x="7162416" y="2790202"/>
            <a:ext cx="1852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restore –-staged &lt;file&gt;</a:t>
            </a:r>
            <a:endParaRPr lang="en-GB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FD9862-B8EA-0726-7B0A-AC37CEE8C07D}"/>
              </a:ext>
            </a:extLst>
          </p:cNvPr>
          <p:cNvSpPr txBox="1"/>
          <p:nvPr/>
        </p:nvSpPr>
        <p:spPr>
          <a:xfrm>
            <a:off x="2007032" y="2660126"/>
            <a:ext cx="1399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chemeClr val="bg1"/>
                </a:solidFill>
              </a:rPr>
              <a:t>git checkout &lt;file&gt;</a:t>
            </a:r>
            <a:endParaRPr lang="en-GB" sz="1200" dirty="0">
              <a:solidFill>
                <a:schemeClr val="bg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0F4B296-9C26-5FBA-3F2F-F981EBADD727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8619427" y="1861296"/>
            <a:ext cx="685938" cy="11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928AFED-4781-5E78-D7BC-AACE6D433603}"/>
              </a:ext>
            </a:extLst>
          </p:cNvPr>
          <p:cNvCxnSpPr/>
          <p:nvPr/>
        </p:nvCxnSpPr>
        <p:spPr>
          <a:xfrm flipH="1" flipV="1">
            <a:off x="6974625" y="2728697"/>
            <a:ext cx="2330740" cy="29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930B197-67B1-F0DF-25B3-C19339804332}"/>
              </a:ext>
            </a:extLst>
          </p:cNvPr>
          <p:cNvCxnSpPr>
            <a:cxnSpLocks/>
          </p:cNvCxnSpPr>
          <p:nvPr/>
        </p:nvCxnSpPr>
        <p:spPr>
          <a:xfrm flipH="1" flipV="1">
            <a:off x="3343559" y="2640942"/>
            <a:ext cx="2286276" cy="13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2FDBBC1-665B-73B8-DB89-021A60D3B646}"/>
              </a:ext>
            </a:extLst>
          </p:cNvPr>
          <p:cNvSpPr txBox="1"/>
          <p:nvPr/>
        </p:nvSpPr>
        <p:spPr>
          <a:xfrm>
            <a:off x="9115318" y="2988830"/>
            <a:ext cx="2204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restore –-source &lt;ID&gt; &lt;file&gt;</a:t>
            </a:r>
            <a:endParaRPr lang="en-GB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CC7793-9D5E-6253-672A-D90CEABDC09B}"/>
              </a:ext>
            </a:extLst>
          </p:cNvPr>
          <p:cNvSpPr txBox="1"/>
          <p:nvPr/>
        </p:nvSpPr>
        <p:spPr>
          <a:xfrm>
            <a:off x="4658609" y="6414274"/>
            <a:ext cx="1278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</a:t>
            </a:r>
            <a:r>
              <a:rPr lang="en-AU" sz="1200" dirty="0" err="1"/>
              <a:t>difftool</a:t>
            </a:r>
            <a:r>
              <a:rPr lang="en-AU" sz="1200" dirty="0"/>
              <a:t> HEAD</a:t>
            </a:r>
            <a:endParaRPr lang="en-GB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F2D911-9A98-B7EC-101E-5B105D583737}"/>
              </a:ext>
            </a:extLst>
          </p:cNvPr>
          <p:cNvSpPr/>
          <p:nvPr/>
        </p:nvSpPr>
        <p:spPr>
          <a:xfrm>
            <a:off x="5614506" y="5097930"/>
            <a:ext cx="1341552" cy="2670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git rm –cached &lt;file&gt;</a:t>
            </a:r>
            <a:endParaRPr lang="en-GB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E1DE10-692A-5A32-D6DA-6DFE2D9C576E}"/>
              </a:ext>
            </a:extLst>
          </p:cNvPr>
          <p:cNvSpPr/>
          <p:nvPr/>
        </p:nvSpPr>
        <p:spPr>
          <a:xfrm>
            <a:off x="2023686" y="6462580"/>
            <a:ext cx="1256842" cy="2670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git status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C45EBF-5718-428C-DEBF-3C44FD3CCF61}"/>
              </a:ext>
            </a:extLst>
          </p:cNvPr>
          <p:cNvSpPr txBox="1"/>
          <p:nvPr/>
        </p:nvSpPr>
        <p:spPr>
          <a:xfrm>
            <a:off x="9601200" y="4508496"/>
            <a:ext cx="2196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branch &lt;</a:t>
            </a:r>
            <a:r>
              <a:rPr lang="en-AU" sz="1200" dirty="0" err="1"/>
              <a:t>new_branch</a:t>
            </a:r>
            <a:r>
              <a:rPr lang="en-AU" sz="1200" dirty="0"/>
              <a:t>&gt;</a:t>
            </a:r>
          </a:p>
          <a:p>
            <a:r>
              <a:rPr lang="en-AU" sz="1200" dirty="0"/>
              <a:t>git checkout &lt;branch&gt;</a:t>
            </a:r>
          </a:p>
          <a:p>
            <a:r>
              <a:rPr lang="en-AU" sz="1200" dirty="0"/>
              <a:t>git checkout</a:t>
            </a:r>
            <a:r>
              <a:rPr lang="en-GB" sz="1200" dirty="0"/>
              <a:t> –b &lt;</a:t>
            </a:r>
            <a:r>
              <a:rPr lang="en-GB" sz="1200" dirty="0" err="1"/>
              <a:t>new_branch</a:t>
            </a:r>
            <a:r>
              <a:rPr lang="en-GB" sz="1200" dirty="0"/>
              <a:t>&gt;</a:t>
            </a:r>
          </a:p>
          <a:p>
            <a:r>
              <a:rPr lang="en-AU" sz="1200" dirty="0"/>
              <a:t>git checkout</a:t>
            </a:r>
            <a:r>
              <a:rPr lang="en-GB" sz="1200" dirty="0"/>
              <a:t> –d &lt;branch&gt;</a:t>
            </a:r>
          </a:p>
          <a:p>
            <a:r>
              <a:rPr lang="en-AU" sz="1200" dirty="0"/>
              <a:t>git merge &lt;branch&gt;</a:t>
            </a:r>
          </a:p>
          <a:p>
            <a:r>
              <a:rPr lang="en-AU" sz="1200" dirty="0"/>
              <a:t>git merge --abort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047163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887D2A-D730-69C1-C50D-5A37E3935EF9}"/>
              </a:ext>
            </a:extLst>
          </p:cNvPr>
          <p:cNvSpPr txBox="1"/>
          <p:nvPr/>
        </p:nvSpPr>
        <p:spPr>
          <a:xfrm>
            <a:off x="2743127" y="1444825"/>
            <a:ext cx="1124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clone &lt;</a:t>
            </a:r>
            <a:r>
              <a:rPr lang="en-AU" sz="1200" dirty="0" err="1"/>
              <a:t>url</a:t>
            </a:r>
            <a:r>
              <a:rPr lang="en-AU" sz="1200" dirty="0"/>
              <a:t>&gt;</a:t>
            </a:r>
            <a:endParaRPr lang="en-GB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F0D706-14AD-8B0A-7DE8-1C38D7DB7613}"/>
              </a:ext>
            </a:extLst>
          </p:cNvPr>
          <p:cNvSpPr/>
          <p:nvPr/>
        </p:nvSpPr>
        <p:spPr>
          <a:xfrm>
            <a:off x="726419" y="1615210"/>
            <a:ext cx="1263192" cy="383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 err="1"/>
              <a:t>Github</a:t>
            </a:r>
            <a:endParaRPr lang="en-GB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34104D-B9DC-50A5-0FB6-A099DF3C062E}"/>
              </a:ext>
            </a:extLst>
          </p:cNvPr>
          <p:cNvSpPr/>
          <p:nvPr/>
        </p:nvSpPr>
        <p:spPr>
          <a:xfrm>
            <a:off x="4491595" y="1615210"/>
            <a:ext cx="1263192" cy="3837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Git</a:t>
            </a:r>
            <a:endParaRPr lang="en-GB" sz="1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D1E84F-777B-677C-07C0-8DC2EEAC9A73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1989611" y="1807073"/>
            <a:ext cx="25019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8EF2628-3074-7AB6-866B-C1AF259DBBDB}"/>
              </a:ext>
            </a:extLst>
          </p:cNvPr>
          <p:cNvCxnSpPr>
            <a:cxnSpLocks/>
            <a:stCxn id="4" idx="2"/>
            <a:endCxn id="3" idx="2"/>
          </p:cNvCxnSpPr>
          <p:nvPr/>
        </p:nvCxnSpPr>
        <p:spPr>
          <a:xfrm rot="5400000">
            <a:off x="3240603" y="116348"/>
            <a:ext cx="12700" cy="3765176"/>
          </a:xfrm>
          <a:prstGeom prst="bentConnector3">
            <a:avLst>
              <a:gd name="adj1" fmla="val 448235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B14B64D-B23E-EA27-B00D-50CFCD043CE6}"/>
              </a:ext>
            </a:extLst>
          </p:cNvPr>
          <p:cNvSpPr txBox="1"/>
          <p:nvPr/>
        </p:nvSpPr>
        <p:spPr>
          <a:xfrm>
            <a:off x="2882015" y="2579827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push</a:t>
            </a: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E9E5E0-C914-9D0A-6C9D-464733AF9C65}"/>
              </a:ext>
            </a:extLst>
          </p:cNvPr>
          <p:cNvSpPr txBox="1"/>
          <p:nvPr/>
        </p:nvSpPr>
        <p:spPr>
          <a:xfrm>
            <a:off x="728405" y="2901627"/>
            <a:ext cx="101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remote -v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AE169E-1551-56B2-B3D2-F2A43C917381}"/>
              </a:ext>
            </a:extLst>
          </p:cNvPr>
          <p:cNvSpPr txBox="1"/>
          <p:nvPr/>
        </p:nvSpPr>
        <p:spPr>
          <a:xfrm>
            <a:off x="728405" y="3152001"/>
            <a:ext cx="980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branch -r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DFCA1-3D5F-7179-0D3C-976C5622E619}"/>
              </a:ext>
            </a:extLst>
          </p:cNvPr>
          <p:cNvSpPr txBox="1"/>
          <p:nvPr/>
        </p:nvSpPr>
        <p:spPr>
          <a:xfrm>
            <a:off x="728405" y="3402375"/>
            <a:ext cx="1645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remote show origin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4F0000-8445-5AAA-4EC6-F7036C372466}"/>
              </a:ext>
            </a:extLst>
          </p:cNvPr>
          <p:cNvSpPr txBox="1"/>
          <p:nvPr/>
        </p:nvSpPr>
        <p:spPr>
          <a:xfrm>
            <a:off x="2141491" y="1892323"/>
            <a:ext cx="2193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pull OR git fetch + git merge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7A798A-708A-BA00-BC7C-2BF0CDC15A2D}"/>
              </a:ext>
            </a:extLst>
          </p:cNvPr>
          <p:cNvSpPr txBox="1"/>
          <p:nvPr/>
        </p:nvSpPr>
        <p:spPr>
          <a:xfrm>
            <a:off x="6961085" y="1715587"/>
            <a:ext cx="27430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config –global user.name “&lt;name&gt;”</a:t>
            </a:r>
          </a:p>
          <a:p>
            <a:r>
              <a:rPr lang="en-AU" sz="1200" dirty="0"/>
              <a:t>git config –global </a:t>
            </a:r>
            <a:r>
              <a:rPr lang="en-AU" sz="1200" dirty="0" err="1"/>
              <a:t>user.email</a:t>
            </a:r>
            <a:r>
              <a:rPr lang="en-AU" sz="1200" dirty="0"/>
              <a:t> “&lt;email&gt;”</a:t>
            </a:r>
          </a:p>
          <a:p>
            <a:r>
              <a:rPr lang="en-GB" sz="1200" dirty="0"/>
              <a:t>git config –global </a:t>
            </a:r>
            <a:r>
              <a:rPr lang="en-GB" sz="1200" dirty="0" err="1"/>
              <a:t>core.editor</a:t>
            </a:r>
            <a:r>
              <a:rPr lang="en-GB" sz="1200" dirty="0"/>
              <a:t> &lt;editor&gt;</a:t>
            </a:r>
          </a:p>
          <a:p>
            <a:r>
              <a:rPr lang="en-GB" sz="1200" dirty="0"/>
              <a:t>touch .</a:t>
            </a:r>
            <a:r>
              <a:rPr lang="en-GB" sz="1200" dirty="0" err="1"/>
              <a:t>gitignore</a:t>
            </a:r>
            <a:r>
              <a:rPr lang="en-GB" sz="1200" dirty="0"/>
              <a:t> OR clone from </a:t>
            </a:r>
            <a:r>
              <a:rPr lang="en-GB" sz="1200" dirty="0" err="1"/>
              <a:t>github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92452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Database outline">
            <a:extLst>
              <a:ext uri="{FF2B5EF4-FFF2-40B4-BE49-F238E27FC236}">
                <a16:creationId xmlns:a16="http://schemas.microsoft.com/office/drawing/2014/main" id="{0029A943-AC96-DBA3-3DEA-E00C2BB50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3872" y="1020451"/>
            <a:ext cx="914400" cy="914400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7FD54704-D792-CDE5-2B93-0F5181B53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1282" y="1020451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98D2F565-AC9A-F3A2-FAEA-16D8E4DEA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8692" y="1020451"/>
            <a:ext cx="914400" cy="914400"/>
          </a:xfrm>
          <a:prstGeom prst="rect">
            <a:avLst/>
          </a:prstGeom>
        </p:spPr>
      </p:pic>
      <p:pic>
        <p:nvPicPr>
          <p:cNvPr id="6" name="Graphic 5" descr="Database outline">
            <a:extLst>
              <a:ext uri="{FF2B5EF4-FFF2-40B4-BE49-F238E27FC236}">
                <a16:creationId xmlns:a16="http://schemas.microsoft.com/office/drawing/2014/main" id="{5EE1C870-C91A-DC2F-E59C-A6D585AEB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6103" y="1020451"/>
            <a:ext cx="914400" cy="9144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0EC613-D031-DCA5-8378-CC5F90D21F90}"/>
              </a:ext>
            </a:extLst>
          </p:cNvPr>
          <p:cNvCxnSpPr/>
          <p:nvPr/>
        </p:nvCxnSpPr>
        <p:spPr>
          <a:xfrm>
            <a:off x="1901072" y="1934851"/>
            <a:ext cx="0" cy="3910137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CDBD68-61E8-BCB3-4FF3-6B7F32E1665F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538482" y="1934851"/>
            <a:ext cx="0" cy="3910137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299D2C-7887-9F9E-C8FD-04FF2C19895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7175892" y="1934851"/>
            <a:ext cx="0" cy="397289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7E24CD-2139-1A70-2CEA-43CE605F21B6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813302" y="1934851"/>
            <a:ext cx="1" cy="3910137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B3EBEE-3C59-21E1-931D-AC5C25885700}"/>
              </a:ext>
            </a:extLst>
          </p:cNvPr>
          <p:cNvCxnSpPr/>
          <p:nvPr/>
        </p:nvCxnSpPr>
        <p:spPr>
          <a:xfrm>
            <a:off x="2026024" y="2868708"/>
            <a:ext cx="2294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E45434C-E25E-F6E0-FA7A-FACD90137000}"/>
              </a:ext>
            </a:extLst>
          </p:cNvPr>
          <p:cNvSpPr txBox="1"/>
          <p:nvPr/>
        </p:nvSpPr>
        <p:spPr>
          <a:xfrm>
            <a:off x="2753015" y="2348342"/>
            <a:ext cx="9605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git add &lt;file&gt;</a:t>
            </a:r>
            <a:endParaRPr lang="en-GB" sz="11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5812CBD-41AD-46F3-7A04-1C5D2A895891}"/>
              </a:ext>
            </a:extLst>
          </p:cNvPr>
          <p:cNvCxnSpPr/>
          <p:nvPr/>
        </p:nvCxnSpPr>
        <p:spPr>
          <a:xfrm>
            <a:off x="4706471" y="2868708"/>
            <a:ext cx="2294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BD44F9-F89D-A716-D913-E13113311CB5}"/>
              </a:ext>
            </a:extLst>
          </p:cNvPr>
          <p:cNvCxnSpPr/>
          <p:nvPr/>
        </p:nvCxnSpPr>
        <p:spPr>
          <a:xfrm>
            <a:off x="7324165" y="2877672"/>
            <a:ext cx="2294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E7BFA1E-FB41-E6A3-19B7-CA24F9B3F14C}"/>
              </a:ext>
            </a:extLst>
          </p:cNvPr>
          <p:cNvSpPr txBox="1"/>
          <p:nvPr/>
        </p:nvSpPr>
        <p:spPr>
          <a:xfrm>
            <a:off x="4907577" y="2562331"/>
            <a:ext cx="1945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git commit –m “message”</a:t>
            </a:r>
            <a:endParaRPr lang="en-GB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D758D7-B905-6AF3-71FE-7E3E7360078A}"/>
              </a:ext>
            </a:extLst>
          </p:cNvPr>
          <p:cNvSpPr txBox="1"/>
          <p:nvPr/>
        </p:nvSpPr>
        <p:spPr>
          <a:xfrm>
            <a:off x="4927513" y="3812254"/>
            <a:ext cx="1712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git restore –-staged &lt;file&gt;</a:t>
            </a:r>
            <a:endParaRPr lang="en-GB" sz="11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4A1A066-F5B2-9BC6-912C-F86E6448E467}"/>
              </a:ext>
            </a:extLst>
          </p:cNvPr>
          <p:cNvCxnSpPr>
            <a:cxnSpLocks/>
          </p:cNvCxnSpPr>
          <p:nvPr/>
        </p:nvCxnSpPr>
        <p:spPr>
          <a:xfrm flipH="1">
            <a:off x="4706471" y="3770557"/>
            <a:ext cx="2294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1C05387-A92D-59E3-ED29-11E050B7FD04}"/>
              </a:ext>
            </a:extLst>
          </p:cNvPr>
          <p:cNvSpPr txBox="1"/>
          <p:nvPr/>
        </p:nvSpPr>
        <p:spPr>
          <a:xfrm>
            <a:off x="2652827" y="3812254"/>
            <a:ext cx="11608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git restore &lt;file&gt;</a:t>
            </a:r>
            <a:endParaRPr lang="en-GB" sz="11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71DEDF-B138-4974-6159-3CF4CF1110E8}"/>
              </a:ext>
            </a:extLst>
          </p:cNvPr>
          <p:cNvCxnSpPr>
            <a:cxnSpLocks/>
          </p:cNvCxnSpPr>
          <p:nvPr/>
        </p:nvCxnSpPr>
        <p:spPr>
          <a:xfrm flipH="1">
            <a:off x="2026024" y="3770557"/>
            <a:ext cx="2294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87D911F-0EDA-F980-AA98-FA98696117FC}"/>
              </a:ext>
            </a:extLst>
          </p:cNvPr>
          <p:cNvSpPr txBox="1"/>
          <p:nvPr/>
        </p:nvSpPr>
        <p:spPr>
          <a:xfrm>
            <a:off x="2953390" y="2925962"/>
            <a:ext cx="5597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>
                <a:solidFill>
                  <a:schemeClr val="tx2"/>
                </a:solidFill>
              </a:rPr>
              <a:t>git diff</a:t>
            </a:r>
            <a:endParaRPr lang="en-GB" sz="1100" dirty="0">
              <a:solidFill>
                <a:schemeClr val="tx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2DDB4F-54AE-B5B2-8187-32A832A8C1CF}"/>
              </a:ext>
            </a:extLst>
          </p:cNvPr>
          <p:cNvSpPr txBox="1"/>
          <p:nvPr/>
        </p:nvSpPr>
        <p:spPr>
          <a:xfrm>
            <a:off x="2667254" y="2562331"/>
            <a:ext cx="11320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git add –p &lt;file&gt;</a:t>
            </a:r>
            <a:endParaRPr lang="en-GB" sz="11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1091C8-D247-677E-88EC-77602E285977}"/>
              </a:ext>
            </a:extLst>
          </p:cNvPr>
          <p:cNvSpPr txBox="1"/>
          <p:nvPr/>
        </p:nvSpPr>
        <p:spPr>
          <a:xfrm>
            <a:off x="5255224" y="2897905"/>
            <a:ext cx="10969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solidFill>
                  <a:schemeClr val="tx2"/>
                </a:solidFill>
              </a:rPr>
              <a:t>git diff --staged</a:t>
            </a:r>
            <a:endParaRPr lang="en-GB" sz="1100" dirty="0">
              <a:solidFill>
                <a:schemeClr val="tx2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C82276-53FA-D9B8-1F7D-9919721DB33A}"/>
              </a:ext>
            </a:extLst>
          </p:cNvPr>
          <p:cNvSpPr txBox="1"/>
          <p:nvPr/>
        </p:nvSpPr>
        <p:spPr>
          <a:xfrm>
            <a:off x="6698521" y="3830619"/>
            <a:ext cx="954998" cy="600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100" dirty="0"/>
              <a:t>git restore –-source &lt;ID&gt; &lt;file&gt;</a:t>
            </a:r>
            <a:endParaRPr lang="en-GB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AF8666-B6BE-7E1E-1DA3-186DDCF1EDD1}"/>
              </a:ext>
            </a:extLst>
          </p:cNvPr>
          <p:cNvSpPr txBox="1"/>
          <p:nvPr/>
        </p:nvSpPr>
        <p:spPr>
          <a:xfrm>
            <a:off x="3255635" y="3351923"/>
            <a:ext cx="26704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git commit –am “Message” (staged files)</a:t>
            </a:r>
            <a:endParaRPr lang="en-GB" sz="11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8476D0-C47F-7754-7F4D-556833D03C00}"/>
              </a:ext>
            </a:extLst>
          </p:cNvPr>
          <p:cNvCxnSpPr>
            <a:cxnSpLocks/>
          </p:cNvCxnSpPr>
          <p:nvPr/>
        </p:nvCxnSpPr>
        <p:spPr>
          <a:xfrm>
            <a:off x="2018404" y="3310668"/>
            <a:ext cx="4983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A843A50-3E85-A72E-E2A5-CC68B1225A77}"/>
              </a:ext>
            </a:extLst>
          </p:cNvPr>
          <p:cNvCxnSpPr/>
          <p:nvPr/>
        </p:nvCxnSpPr>
        <p:spPr>
          <a:xfrm>
            <a:off x="2118360" y="4430783"/>
            <a:ext cx="22026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A26953E-1517-30A6-99C0-A51A61456A05}"/>
              </a:ext>
            </a:extLst>
          </p:cNvPr>
          <p:cNvSpPr txBox="1"/>
          <p:nvPr/>
        </p:nvSpPr>
        <p:spPr>
          <a:xfrm>
            <a:off x="2785876" y="4472479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git rm &lt;file&gt;</a:t>
            </a:r>
            <a:endParaRPr lang="en-GB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D71861-A42C-8BE8-FA6E-FF9711F67B40}"/>
              </a:ext>
            </a:extLst>
          </p:cNvPr>
          <p:cNvSpPr txBox="1"/>
          <p:nvPr/>
        </p:nvSpPr>
        <p:spPr>
          <a:xfrm>
            <a:off x="4207759" y="4449135"/>
            <a:ext cx="690852" cy="600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100" dirty="0"/>
              <a:t>git rm –cached &lt;file&gt;</a:t>
            </a:r>
            <a:endParaRPr lang="en-GB" sz="11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3C38F7-B119-A79A-E33A-9C928091823C}"/>
              </a:ext>
            </a:extLst>
          </p:cNvPr>
          <p:cNvSpPr txBox="1"/>
          <p:nvPr/>
        </p:nvSpPr>
        <p:spPr>
          <a:xfrm>
            <a:off x="2273075" y="4735284"/>
            <a:ext cx="19476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git mv &lt;</a:t>
            </a:r>
            <a:r>
              <a:rPr lang="en-AU" sz="1100" dirty="0" err="1"/>
              <a:t>file_old</a:t>
            </a:r>
            <a:r>
              <a:rPr lang="en-AU" sz="1100" dirty="0"/>
              <a:t>&gt; &lt;</a:t>
            </a:r>
            <a:r>
              <a:rPr lang="en-AU" sz="1100" dirty="0" err="1"/>
              <a:t>file_new</a:t>
            </a:r>
            <a:r>
              <a:rPr lang="en-AU" sz="1100" dirty="0"/>
              <a:t>&gt;</a:t>
            </a:r>
            <a:endParaRPr lang="en-GB" sz="11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11C5FD-77E2-952F-B86F-C29E4452C8D2}"/>
              </a:ext>
            </a:extLst>
          </p:cNvPr>
          <p:cNvSpPr txBox="1"/>
          <p:nvPr/>
        </p:nvSpPr>
        <p:spPr>
          <a:xfrm>
            <a:off x="7898664" y="2037372"/>
            <a:ext cx="10438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git clone &lt;</a:t>
            </a:r>
            <a:r>
              <a:rPr lang="en-AU" sz="1100" dirty="0" err="1"/>
              <a:t>url</a:t>
            </a:r>
            <a:r>
              <a:rPr lang="en-AU" sz="1100" dirty="0"/>
              <a:t>&gt;</a:t>
            </a:r>
            <a:endParaRPr lang="en-GB" sz="11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78B2454-2363-AAFD-5E09-FF2AD602C9FE}"/>
              </a:ext>
            </a:extLst>
          </p:cNvPr>
          <p:cNvCxnSpPr>
            <a:cxnSpLocks/>
          </p:cNvCxnSpPr>
          <p:nvPr/>
        </p:nvCxnSpPr>
        <p:spPr>
          <a:xfrm flipH="1">
            <a:off x="7313195" y="2348342"/>
            <a:ext cx="2294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25E7132-2318-96BB-031A-8720153103BE}"/>
              </a:ext>
            </a:extLst>
          </p:cNvPr>
          <p:cNvSpPr txBox="1"/>
          <p:nvPr/>
        </p:nvSpPr>
        <p:spPr>
          <a:xfrm>
            <a:off x="8064575" y="2589284"/>
            <a:ext cx="6655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git push</a:t>
            </a:r>
            <a:endParaRPr lang="en-GB" sz="11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33BA34E-5684-DBBD-CC23-DD386834FC17}"/>
              </a:ext>
            </a:extLst>
          </p:cNvPr>
          <p:cNvCxnSpPr>
            <a:cxnSpLocks/>
          </p:cNvCxnSpPr>
          <p:nvPr/>
        </p:nvCxnSpPr>
        <p:spPr>
          <a:xfrm flipH="1">
            <a:off x="7313195" y="3025126"/>
            <a:ext cx="2294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8C01F16-0A8C-083B-9FCC-317D1C9B53AB}"/>
              </a:ext>
            </a:extLst>
          </p:cNvPr>
          <p:cNvSpPr txBox="1"/>
          <p:nvPr/>
        </p:nvSpPr>
        <p:spPr>
          <a:xfrm>
            <a:off x="7417532" y="3029872"/>
            <a:ext cx="20201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git pull OR git fetch + git merge</a:t>
            </a:r>
            <a:endParaRPr lang="en-GB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E08A33-6C3D-B76B-3BA1-41112DDCD07F}"/>
              </a:ext>
            </a:extLst>
          </p:cNvPr>
          <p:cNvSpPr txBox="1"/>
          <p:nvPr/>
        </p:nvSpPr>
        <p:spPr>
          <a:xfrm>
            <a:off x="423531" y="224549"/>
            <a:ext cx="23294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git config –global user.name “&lt;name&gt;”</a:t>
            </a:r>
          </a:p>
          <a:p>
            <a:r>
              <a:rPr lang="en-AU" sz="1000" dirty="0"/>
              <a:t>git config –global </a:t>
            </a:r>
            <a:r>
              <a:rPr lang="en-AU" sz="1000" dirty="0" err="1"/>
              <a:t>user.email</a:t>
            </a:r>
            <a:r>
              <a:rPr lang="en-AU" sz="1000" dirty="0"/>
              <a:t> “&lt;email&gt;”</a:t>
            </a:r>
          </a:p>
          <a:p>
            <a:r>
              <a:rPr lang="en-GB" sz="1000" dirty="0"/>
              <a:t>git config –global </a:t>
            </a:r>
            <a:r>
              <a:rPr lang="en-GB" sz="1000" dirty="0" err="1"/>
              <a:t>core.editor</a:t>
            </a:r>
            <a:r>
              <a:rPr lang="en-GB" sz="1000" dirty="0"/>
              <a:t> &lt;editor&gt;</a:t>
            </a:r>
          </a:p>
          <a:p>
            <a:r>
              <a:rPr lang="en-GB" sz="1000" dirty="0"/>
              <a:t>touch .</a:t>
            </a:r>
            <a:r>
              <a:rPr lang="en-GB" sz="1000" dirty="0" err="1"/>
              <a:t>gitignore</a:t>
            </a:r>
            <a:r>
              <a:rPr lang="en-GB" sz="1000" dirty="0"/>
              <a:t> OR clone from </a:t>
            </a:r>
            <a:r>
              <a:rPr lang="en-GB" sz="1000" dirty="0" err="1"/>
              <a:t>github</a:t>
            </a:r>
            <a:endParaRPr lang="en-GB" sz="1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B0D0FC-6011-9171-1D83-5A57A641D9C8}"/>
              </a:ext>
            </a:extLst>
          </p:cNvPr>
          <p:cNvSpPr txBox="1"/>
          <p:nvPr/>
        </p:nvSpPr>
        <p:spPr>
          <a:xfrm>
            <a:off x="406807" y="5627277"/>
            <a:ext cx="10182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git log --graph</a:t>
            </a:r>
            <a:endParaRPr lang="en-GB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5A4C3E-8263-D891-79B9-25363775234B}"/>
              </a:ext>
            </a:extLst>
          </p:cNvPr>
          <p:cNvSpPr txBox="1"/>
          <p:nvPr/>
        </p:nvSpPr>
        <p:spPr>
          <a:xfrm>
            <a:off x="406807" y="5851108"/>
            <a:ext cx="688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git show</a:t>
            </a:r>
            <a:endParaRPr lang="en-GB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0F249B-BC5A-C159-76E3-E8821E895559}"/>
              </a:ext>
            </a:extLst>
          </p:cNvPr>
          <p:cNvSpPr txBox="1"/>
          <p:nvPr/>
        </p:nvSpPr>
        <p:spPr>
          <a:xfrm>
            <a:off x="406807" y="6074940"/>
            <a:ext cx="7425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git status</a:t>
            </a:r>
            <a:endParaRPr lang="en-GB" sz="11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4E2E41-2805-2AB8-CAD7-8B2047AE59CC}"/>
              </a:ext>
            </a:extLst>
          </p:cNvPr>
          <p:cNvSpPr txBox="1"/>
          <p:nvPr/>
        </p:nvSpPr>
        <p:spPr>
          <a:xfrm>
            <a:off x="10536371" y="4058077"/>
            <a:ext cx="101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remote -v</a:t>
            </a:r>
            <a:endParaRPr lang="en-GB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313E87-60E3-ABA1-65F3-46EE588FE8C6}"/>
              </a:ext>
            </a:extLst>
          </p:cNvPr>
          <p:cNvSpPr txBox="1"/>
          <p:nvPr/>
        </p:nvSpPr>
        <p:spPr>
          <a:xfrm>
            <a:off x="10536371" y="4308451"/>
            <a:ext cx="980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branch -r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20B5C0-66E0-5B8A-3ACF-4D784614E376}"/>
              </a:ext>
            </a:extLst>
          </p:cNvPr>
          <p:cNvSpPr txBox="1"/>
          <p:nvPr/>
        </p:nvSpPr>
        <p:spPr>
          <a:xfrm>
            <a:off x="10536371" y="4558825"/>
            <a:ext cx="1645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git remote show origin</a:t>
            </a:r>
            <a:endParaRPr lang="en-GB" sz="1200" dirty="0"/>
          </a:p>
        </p:txBody>
      </p:sp>
      <p:pic>
        <p:nvPicPr>
          <p:cNvPr id="7" name="Graphic 6" descr="Lights On with solid fill">
            <a:extLst>
              <a:ext uri="{FF2B5EF4-FFF2-40B4-BE49-F238E27FC236}">
                <a16:creationId xmlns:a16="http://schemas.microsoft.com/office/drawing/2014/main" id="{94EC0733-433C-5D70-4F21-316D23C07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45838" y="3270177"/>
            <a:ext cx="393192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291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2111D88-ACD5-620E-8745-5776FC8FF01F}"/>
              </a:ext>
            </a:extLst>
          </p:cNvPr>
          <p:cNvSpPr txBox="1"/>
          <p:nvPr/>
        </p:nvSpPr>
        <p:spPr>
          <a:xfrm>
            <a:off x="4334095" y="1162324"/>
            <a:ext cx="41443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git config –global alias.am “commit –am” (alias reduces typing)</a:t>
            </a:r>
            <a:endParaRPr lang="en-GB" sz="1100" dirty="0"/>
          </a:p>
        </p:txBody>
      </p:sp>
      <p:pic>
        <p:nvPicPr>
          <p:cNvPr id="11" name="Graphic 10" descr="Lights On with solid fill">
            <a:extLst>
              <a:ext uri="{FF2B5EF4-FFF2-40B4-BE49-F238E27FC236}">
                <a16:creationId xmlns:a16="http://schemas.microsoft.com/office/drawing/2014/main" id="{03B5F775-E2E3-3289-8E71-19777CCF2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3528" y="1074731"/>
            <a:ext cx="393192" cy="3931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260E47-FEC0-76F1-A27D-477012C57BC7}"/>
              </a:ext>
            </a:extLst>
          </p:cNvPr>
          <p:cNvSpPr txBox="1"/>
          <p:nvPr/>
        </p:nvSpPr>
        <p:spPr>
          <a:xfrm>
            <a:off x="4334095" y="1385358"/>
            <a:ext cx="42198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git commit –amend –m “message” (amend previous message”</a:t>
            </a:r>
            <a:endParaRPr lang="en-GB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30D137-6AFA-58E3-C08E-3321E6CA35F2}"/>
              </a:ext>
            </a:extLst>
          </p:cNvPr>
          <p:cNvSpPr txBox="1"/>
          <p:nvPr/>
        </p:nvSpPr>
        <p:spPr>
          <a:xfrm>
            <a:off x="4334095" y="1608392"/>
            <a:ext cx="50493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git commit –amend –-no-edit (add new (</a:t>
            </a:r>
            <a:r>
              <a:rPr lang="en-AU" sz="1100" dirty="0" err="1"/>
              <a:t>unpushed</a:t>
            </a:r>
            <a:r>
              <a:rPr lang="en-AU" sz="1100" dirty="0"/>
              <a:t>) files to previous commit)</a:t>
            </a:r>
            <a:endParaRPr lang="en-GB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D4196E-2A03-D46F-9500-7A1D972ECEDF}"/>
              </a:ext>
            </a:extLst>
          </p:cNvPr>
          <p:cNvSpPr txBox="1"/>
          <p:nvPr/>
        </p:nvSpPr>
        <p:spPr>
          <a:xfrm>
            <a:off x="4334095" y="1831426"/>
            <a:ext cx="50493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git revert &lt;ID&gt;</a:t>
            </a:r>
            <a:endParaRPr lang="en-GB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CA8B56-B836-8ADC-68C1-4BD807C365C3}"/>
              </a:ext>
            </a:extLst>
          </p:cNvPr>
          <p:cNvSpPr txBox="1"/>
          <p:nvPr/>
        </p:nvSpPr>
        <p:spPr>
          <a:xfrm>
            <a:off x="4334095" y="2054460"/>
            <a:ext cx="50493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git stash save &lt;name&gt;</a:t>
            </a:r>
            <a:endParaRPr lang="en-GB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6649BC-AC64-BA00-9ECF-1E0973FDAD13}"/>
              </a:ext>
            </a:extLst>
          </p:cNvPr>
          <p:cNvSpPr txBox="1"/>
          <p:nvPr/>
        </p:nvSpPr>
        <p:spPr>
          <a:xfrm>
            <a:off x="4334095" y="2277494"/>
            <a:ext cx="50493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git log –-</a:t>
            </a:r>
            <a:r>
              <a:rPr lang="en-AU" sz="1100" dirty="0" err="1"/>
              <a:t>oneline</a:t>
            </a:r>
            <a:r>
              <a:rPr lang="en-AU" sz="1100" dirty="0"/>
              <a:t> –-graph --decorate</a:t>
            </a:r>
            <a:endParaRPr lang="en-GB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02E78-5A9C-E4B6-FB30-6169B0A870DC}"/>
              </a:ext>
            </a:extLst>
          </p:cNvPr>
          <p:cNvSpPr txBox="1"/>
          <p:nvPr/>
        </p:nvSpPr>
        <p:spPr>
          <a:xfrm>
            <a:off x="5948313" y="4430598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bisect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A005A-922A-0D0B-79FF-DCD3BE5AB88A}"/>
              </a:ext>
            </a:extLst>
          </p:cNvPr>
          <p:cNvSpPr txBox="1"/>
          <p:nvPr/>
        </p:nvSpPr>
        <p:spPr>
          <a:xfrm>
            <a:off x="4334095" y="2500528"/>
            <a:ext cx="50493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git rebase &lt;branch&gt; --interactive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C1E81-5CFE-B3C1-56F6-837559078F92}"/>
              </a:ext>
            </a:extLst>
          </p:cNvPr>
          <p:cNvSpPr txBox="1"/>
          <p:nvPr/>
        </p:nvSpPr>
        <p:spPr>
          <a:xfrm>
            <a:off x="6096000" y="4799930"/>
            <a:ext cx="1369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/>
              <a:t>autosquash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1A3E6-5EB7-A0D3-4724-8CD701FDBD4A}"/>
              </a:ext>
            </a:extLst>
          </p:cNvPr>
          <p:cNvSpPr txBox="1"/>
          <p:nvPr/>
        </p:nvSpPr>
        <p:spPr>
          <a:xfrm>
            <a:off x="4334095" y="939290"/>
            <a:ext cx="26704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git commit –am “Message” (staged files)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50657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F74BD0B-EE25-394C-7CBD-4CE797AABBC3}"/>
              </a:ext>
            </a:extLst>
          </p:cNvPr>
          <p:cNvSpPr>
            <a:spLocks noChangeAspect="1"/>
          </p:cNvSpPr>
          <p:nvPr/>
        </p:nvSpPr>
        <p:spPr>
          <a:xfrm>
            <a:off x="2913518" y="1021175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1</a:t>
            </a:r>
            <a:endParaRPr lang="en-GB" sz="1400" b="1" dirty="0"/>
          </a:p>
        </p:txBody>
      </p:sp>
      <p:pic>
        <p:nvPicPr>
          <p:cNvPr id="4" name="Graphic 3" descr="Document with solid fill">
            <a:extLst>
              <a:ext uri="{FF2B5EF4-FFF2-40B4-BE49-F238E27FC236}">
                <a16:creationId xmlns:a16="http://schemas.microsoft.com/office/drawing/2014/main" id="{0146C717-257B-B000-A4F3-B34C6D13A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7897" y="957197"/>
            <a:ext cx="475488" cy="4754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06C3B7-DC3F-F4E3-295F-CB8E06E1B6DC}"/>
              </a:ext>
            </a:extLst>
          </p:cNvPr>
          <p:cNvCxnSpPr>
            <a:cxnSpLocks/>
            <a:stCxn id="4" idx="3"/>
            <a:endCxn id="2" idx="2"/>
          </p:cNvCxnSpPr>
          <p:nvPr/>
        </p:nvCxnSpPr>
        <p:spPr>
          <a:xfrm>
            <a:off x="2283385" y="1194941"/>
            <a:ext cx="6301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88892F6-E863-BC7A-0E01-84482910C52E}"/>
              </a:ext>
            </a:extLst>
          </p:cNvPr>
          <p:cNvSpPr>
            <a:spLocks noChangeAspect="1"/>
          </p:cNvSpPr>
          <p:nvPr/>
        </p:nvSpPr>
        <p:spPr>
          <a:xfrm>
            <a:off x="3876620" y="1021175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2</a:t>
            </a:r>
            <a:endParaRPr lang="en-GB" sz="1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9ED878-4458-0FD4-1EEC-76455464AD88}"/>
              </a:ext>
            </a:extLst>
          </p:cNvPr>
          <p:cNvSpPr>
            <a:spLocks noChangeAspect="1"/>
          </p:cNvSpPr>
          <p:nvPr/>
        </p:nvSpPr>
        <p:spPr>
          <a:xfrm>
            <a:off x="4834866" y="1021175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3</a:t>
            </a:r>
            <a:endParaRPr lang="en-GB" sz="14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C1A916-1F00-3DE4-7746-9D34A8DEE87C}"/>
              </a:ext>
            </a:extLst>
          </p:cNvPr>
          <p:cNvCxnSpPr>
            <a:stCxn id="2" idx="6"/>
            <a:endCxn id="7" idx="2"/>
          </p:cNvCxnSpPr>
          <p:nvPr/>
        </p:nvCxnSpPr>
        <p:spPr>
          <a:xfrm>
            <a:off x="3261050" y="1194941"/>
            <a:ext cx="6155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65263B-512F-53C6-56D0-22875BF9C4D3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4224152" y="1194941"/>
            <a:ext cx="610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6E8E779-8F92-2394-407C-680704DF75AA}"/>
              </a:ext>
            </a:extLst>
          </p:cNvPr>
          <p:cNvSpPr>
            <a:spLocks noChangeAspect="1"/>
          </p:cNvSpPr>
          <p:nvPr/>
        </p:nvSpPr>
        <p:spPr>
          <a:xfrm>
            <a:off x="5748468" y="1640276"/>
            <a:ext cx="347532" cy="3475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A</a:t>
            </a:r>
            <a:endParaRPr lang="en-GB" sz="14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F85A4B-735F-5DE0-AE7C-FE19854663B6}"/>
              </a:ext>
            </a:extLst>
          </p:cNvPr>
          <p:cNvCxnSpPr>
            <a:cxnSpLocks/>
            <a:stCxn id="8" idx="6"/>
            <a:endCxn id="13" idx="1"/>
          </p:cNvCxnSpPr>
          <p:nvPr/>
        </p:nvCxnSpPr>
        <p:spPr>
          <a:xfrm>
            <a:off x="5182398" y="1194941"/>
            <a:ext cx="616965" cy="496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A94608D-EE18-20F4-484F-0B22B17857D3}"/>
              </a:ext>
            </a:extLst>
          </p:cNvPr>
          <p:cNvSpPr txBox="1"/>
          <p:nvPr/>
        </p:nvSpPr>
        <p:spPr>
          <a:xfrm>
            <a:off x="8700456" y="858942"/>
            <a:ext cx="219611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git branch &lt;</a:t>
            </a:r>
            <a:r>
              <a:rPr lang="en-AU" sz="1100" dirty="0" err="1"/>
              <a:t>new_branch</a:t>
            </a:r>
            <a:r>
              <a:rPr lang="en-AU" sz="1100" dirty="0"/>
              <a:t>&gt; + </a:t>
            </a:r>
          </a:p>
          <a:p>
            <a:r>
              <a:rPr lang="en-AU" sz="1100" dirty="0"/>
              <a:t>git checkout &lt;branch&gt; </a:t>
            </a:r>
            <a:r>
              <a:rPr lang="en-AU" sz="1100" b="1" dirty="0"/>
              <a:t>OR</a:t>
            </a:r>
          </a:p>
          <a:p>
            <a:r>
              <a:rPr lang="en-AU" sz="1100" dirty="0"/>
              <a:t>git checkout</a:t>
            </a:r>
            <a:r>
              <a:rPr lang="en-GB" sz="1100" dirty="0"/>
              <a:t> –b &lt;</a:t>
            </a:r>
            <a:r>
              <a:rPr lang="en-GB" sz="1100" dirty="0" err="1"/>
              <a:t>new_branch</a:t>
            </a:r>
            <a:r>
              <a:rPr lang="en-GB" sz="1100" dirty="0"/>
              <a:t>&gt;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4D0669E-816A-C7C7-0639-3E18DF70E2D6}"/>
              </a:ext>
            </a:extLst>
          </p:cNvPr>
          <p:cNvSpPr>
            <a:spLocks noChangeAspect="1"/>
          </p:cNvSpPr>
          <p:nvPr/>
        </p:nvSpPr>
        <p:spPr>
          <a:xfrm>
            <a:off x="10971001" y="323365"/>
            <a:ext cx="264124" cy="2641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A3E463-855B-AD08-17CD-DD7C0113B772}"/>
              </a:ext>
            </a:extLst>
          </p:cNvPr>
          <p:cNvSpPr txBox="1"/>
          <p:nvPr/>
        </p:nvSpPr>
        <p:spPr>
          <a:xfrm>
            <a:off x="11235125" y="323365"/>
            <a:ext cx="655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commit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CF756E-078A-0987-33EF-7A478429D4A6}"/>
              </a:ext>
            </a:extLst>
          </p:cNvPr>
          <p:cNvSpPr txBox="1"/>
          <p:nvPr/>
        </p:nvSpPr>
        <p:spPr>
          <a:xfrm>
            <a:off x="3291335" y="889410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main</a:t>
            </a:r>
            <a:endParaRPr lang="en-GB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9017B-DE08-29E0-93AF-42EA12584E3F}"/>
              </a:ext>
            </a:extLst>
          </p:cNvPr>
          <p:cNvSpPr txBox="1"/>
          <p:nvPr/>
        </p:nvSpPr>
        <p:spPr>
          <a:xfrm>
            <a:off x="4507549" y="1517252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feature branch</a:t>
            </a:r>
            <a:endParaRPr lang="en-GB" sz="1100" dirty="0"/>
          </a:p>
        </p:txBody>
      </p:sp>
      <p:pic>
        <p:nvPicPr>
          <p:cNvPr id="15" name="Graphic 14" descr="Document with solid fill">
            <a:extLst>
              <a:ext uri="{FF2B5EF4-FFF2-40B4-BE49-F238E27FC236}">
                <a16:creationId xmlns:a16="http://schemas.microsoft.com/office/drawing/2014/main" id="{1BBE9CB4-8DEF-343C-C0F9-BEBBF6A57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1975" y="2299482"/>
            <a:ext cx="475488" cy="47548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D165CE-3536-4895-4DCF-5C9918443110}"/>
              </a:ext>
            </a:extLst>
          </p:cNvPr>
          <p:cNvCxnSpPr>
            <a:cxnSpLocks/>
            <a:stCxn id="15" idx="3"/>
            <a:endCxn id="106" idx="2"/>
          </p:cNvCxnSpPr>
          <p:nvPr/>
        </p:nvCxnSpPr>
        <p:spPr>
          <a:xfrm flipV="1">
            <a:off x="2317463" y="2534786"/>
            <a:ext cx="630133" cy="2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3317BE2-A887-7321-34F6-D39CD860E4BA}"/>
              </a:ext>
            </a:extLst>
          </p:cNvPr>
          <p:cNvSpPr txBox="1"/>
          <p:nvPr/>
        </p:nvSpPr>
        <p:spPr>
          <a:xfrm>
            <a:off x="294632" y="1151020"/>
            <a:ext cx="9188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New branch</a:t>
            </a:r>
            <a:endParaRPr lang="en-GB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1B5B77-B062-3AE3-2475-DEBCD49CB979}"/>
              </a:ext>
            </a:extLst>
          </p:cNvPr>
          <p:cNvSpPr txBox="1"/>
          <p:nvPr/>
        </p:nvSpPr>
        <p:spPr>
          <a:xfrm>
            <a:off x="294632" y="2354996"/>
            <a:ext cx="12466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New commits on main and feature branch</a:t>
            </a:r>
            <a:endParaRPr lang="en-GB" sz="1100" dirty="0"/>
          </a:p>
        </p:txBody>
      </p:sp>
      <p:pic>
        <p:nvPicPr>
          <p:cNvPr id="48" name="Graphic 47" descr="Document with solid fill">
            <a:extLst>
              <a:ext uri="{FF2B5EF4-FFF2-40B4-BE49-F238E27FC236}">
                <a16:creationId xmlns:a16="http://schemas.microsoft.com/office/drawing/2014/main" id="{7126E50E-3280-ED7F-E256-4E6255C9F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2658" y="3617637"/>
            <a:ext cx="475488" cy="475488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CE0F52D-4CB4-D1A5-1F62-E22F25A2A57A}"/>
              </a:ext>
            </a:extLst>
          </p:cNvPr>
          <p:cNvCxnSpPr>
            <a:cxnSpLocks/>
            <a:endCxn id="124" idx="2"/>
          </p:cNvCxnSpPr>
          <p:nvPr/>
        </p:nvCxnSpPr>
        <p:spPr>
          <a:xfrm flipV="1">
            <a:off x="2411281" y="3834436"/>
            <a:ext cx="616998" cy="20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1C50D02-7143-8765-1C35-88C7159F1FA7}"/>
              </a:ext>
            </a:extLst>
          </p:cNvPr>
          <p:cNvSpPr txBox="1"/>
          <p:nvPr/>
        </p:nvSpPr>
        <p:spPr>
          <a:xfrm>
            <a:off x="294632" y="3673151"/>
            <a:ext cx="12466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Rebase feature branch</a:t>
            </a:r>
            <a:endParaRPr lang="en-GB" sz="11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86C0668-8F7E-56ED-6C90-85B99E403D14}"/>
              </a:ext>
            </a:extLst>
          </p:cNvPr>
          <p:cNvSpPr txBox="1"/>
          <p:nvPr/>
        </p:nvSpPr>
        <p:spPr>
          <a:xfrm>
            <a:off x="8700456" y="4026141"/>
            <a:ext cx="19774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git rebase main</a:t>
            </a:r>
            <a:endParaRPr lang="en-GB" sz="1100" dirty="0"/>
          </a:p>
        </p:txBody>
      </p:sp>
      <p:pic>
        <p:nvPicPr>
          <p:cNvPr id="76" name="Graphic 75" descr="Document with solid fill">
            <a:extLst>
              <a:ext uri="{FF2B5EF4-FFF2-40B4-BE49-F238E27FC236}">
                <a16:creationId xmlns:a16="http://schemas.microsoft.com/office/drawing/2014/main" id="{0710946B-87EB-B9AC-7EBE-3EEA9392B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2658" y="4906367"/>
            <a:ext cx="475488" cy="475488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9609017-BCE7-600E-F3DF-1C1993EBB43E}"/>
              </a:ext>
            </a:extLst>
          </p:cNvPr>
          <p:cNvCxnSpPr>
            <a:cxnSpLocks/>
          </p:cNvCxnSpPr>
          <p:nvPr/>
        </p:nvCxnSpPr>
        <p:spPr>
          <a:xfrm flipV="1">
            <a:off x="2411281" y="5139101"/>
            <a:ext cx="616998" cy="5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9476122-7FF9-4B59-9E8E-E8D07DEFA8DB}"/>
              </a:ext>
            </a:extLst>
          </p:cNvPr>
          <p:cNvSpPr txBox="1"/>
          <p:nvPr/>
        </p:nvSpPr>
        <p:spPr>
          <a:xfrm>
            <a:off x="3500366" y="4650318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main</a:t>
            </a:r>
            <a:endParaRPr lang="en-GB" sz="11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E3B5A0C-4916-3ED2-1A36-55EB99621A3E}"/>
              </a:ext>
            </a:extLst>
          </p:cNvPr>
          <p:cNvSpPr txBox="1"/>
          <p:nvPr/>
        </p:nvSpPr>
        <p:spPr>
          <a:xfrm>
            <a:off x="5460216" y="5486971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feature branch</a:t>
            </a:r>
            <a:endParaRPr lang="en-GB" sz="11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C70031E-E6D2-47A9-6816-92F1547AE879}"/>
              </a:ext>
            </a:extLst>
          </p:cNvPr>
          <p:cNvSpPr txBox="1"/>
          <p:nvPr/>
        </p:nvSpPr>
        <p:spPr>
          <a:xfrm>
            <a:off x="294632" y="4961881"/>
            <a:ext cx="12466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Merge feature branch</a:t>
            </a:r>
            <a:endParaRPr lang="en-GB" sz="11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46136B7-7571-04B0-20E3-3769612E3070}"/>
              </a:ext>
            </a:extLst>
          </p:cNvPr>
          <p:cNvSpPr txBox="1"/>
          <p:nvPr/>
        </p:nvSpPr>
        <p:spPr>
          <a:xfrm>
            <a:off x="8700456" y="5113638"/>
            <a:ext cx="19774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git merge feature</a:t>
            </a:r>
            <a:endParaRPr lang="en-GB" sz="1100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60A64B5-F523-1720-B88E-1434539E5708}"/>
              </a:ext>
            </a:extLst>
          </p:cNvPr>
          <p:cNvSpPr>
            <a:spLocks noChangeAspect="1"/>
          </p:cNvSpPr>
          <p:nvPr/>
        </p:nvSpPr>
        <p:spPr>
          <a:xfrm>
            <a:off x="2947596" y="2361020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1</a:t>
            </a:r>
            <a:endParaRPr lang="en-GB" sz="1400" b="1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A8151A82-687F-3EAE-1DFF-6D959FB29DC1}"/>
              </a:ext>
            </a:extLst>
          </p:cNvPr>
          <p:cNvSpPr>
            <a:spLocks noChangeAspect="1"/>
          </p:cNvSpPr>
          <p:nvPr/>
        </p:nvSpPr>
        <p:spPr>
          <a:xfrm>
            <a:off x="3910698" y="2361020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2</a:t>
            </a:r>
            <a:endParaRPr lang="en-GB" sz="1400" b="1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1120633D-AC87-7C50-E439-321A55F5CE30}"/>
              </a:ext>
            </a:extLst>
          </p:cNvPr>
          <p:cNvSpPr>
            <a:spLocks noChangeAspect="1"/>
          </p:cNvSpPr>
          <p:nvPr/>
        </p:nvSpPr>
        <p:spPr>
          <a:xfrm>
            <a:off x="4868944" y="2361020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3</a:t>
            </a:r>
            <a:endParaRPr lang="en-GB" sz="1400" b="1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17E7BC6-8F55-6F4A-7C95-67DF7EC53A4A}"/>
              </a:ext>
            </a:extLst>
          </p:cNvPr>
          <p:cNvCxnSpPr>
            <a:stCxn id="106" idx="6"/>
            <a:endCxn id="107" idx="2"/>
          </p:cNvCxnSpPr>
          <p:nvPr/>
        </p:nvCxnSpPr>
        <p:spPr>
          <a:xfrm>
            <a:off x="3295128" y="2534786"/>
            <a:ext cx="6155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643F9A3-B340-21FB-CAA5-A38D69267C99}"/>
              </a:ext>
            </a:extLst>
          </p:cNvPr>
          <p:cNvCxnSpPr>
            <a:stCxn id="107" idx="6"/>
            <a:endCxn id="108" idx="2"/>
          </p:cNvCxnSpPr>
          <p:nvPr/>
        </p:nvCxnSpPr>
        <p:spPr>
          <a:xfrm>
            <a:off x="4258230" y="2534786"/>
            <a:ext cx="610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3825B7DB-FA00-701E-FF68-D7EE41D59B62}"/>
              </a:ext>
            </a:extLst>
          </p:cNvPr>
          <p:cNvSpPr>
            <a:spLocks noChangeAspect="1"/>
          </p:cNvSpPr>
          <p:nvPr/>
        </p:nvSpPr>
        <p:spPr>
          <a:xfrm>
            <a:off x="5782546" y="2980121"/>
            <a:ext cx="347532" cy="3475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A</a:t>
            </a:r>
            <a:endParaRPr lang="en-GB" sz="1400" b="1" dirty="0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563FE00-1793-84A3-8BD9-8C0C133CC1FD}"/>
              </a:ext>
            </a:extLst>
          </p:cNvPr>
          <p:cNvCxnSpPr>
            <a:cxnSpLocks/>
            <a:stCxn id="108" idx="6"/>
            <a:endCxn id="111" idx="1"/>
          </p:cNvCxnSpPr>
          <p:nvPr/>
        </p:nvCxnSpPr>
        <p:spPr>
          <a:xfrm>
            <a:off x="5216476" y="2534786"/>
            <a:ext cx="616965" cy="496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13E14514-2F61-888E-58AC-297E7A01C36A}"/>
              </a:ext>
            </a:extLst>
          </p:cNvPr>
          <p:cNvSpPr txBox="1"/>
          <p:nvPr/>
        </p:nvSpPr>
        <p:spPr>
          <a:xfrm>
            <a:off x="3325413" y="2210401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main</a:t>
            </a:r>
            <a:endParaRPr lang="en-GB" sz="11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00AE8D0-4B14-15B0-39A6-464A69413437}"/>
              </a:ext>
            </a:extLst>
          </p:cNvPr>
          <p:cNvSpPr txBox="1"/>
          <p:nvPr/>
        </p:nvSpPr>
        <p:spPr>
          <a:xfrm>
            <a:off x="4541627" y="2857097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feature branch</a:t>
            </a:r>
            <a:endParaRPr lang="en-GB" sz="1100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BB07EA3E-368E-2232-CC64-67B5709618C1}"/>
              </a:ext>
            </a:extLst>
          </p:cNvPr>
          <p:cNvSpPr>
            <a:spLocks noChangeAspect="1"/>
          </p:cNvSpPr>
          <p:nvPr/>
        </p:nvSpPr>
        <p:spPr>
          <a:xfrm>
            <a:off x="5818914" y="2361020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4</a:t>
            </a:r>
            <a:endParaRPr lang="en-GB" sz="1400" b="1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B3A6442-45BE-7AF9-2E7E-63EAEFC999A7}"/>
              </a:ext>
            </a:extLst>
          </p:cNvPr>
          <p:cNvCxnSpPr>
            <a:cxnSpLocks/>
            <a:stCxn id="108" idx="6"/>
            <a:endCxn id="118" idx="2"/>
          </p:cNvCxnSpPr>
          <p:nvPr/>
        </p:nvCxnSpPr>
        <p:spPr>
          <a:xfrm>
            <a:off x="5216476" y="2534786"/>
            <a:ext cx="6024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1FB58A73-9B63-4E16-181A-45445055CFE0}"/>
              </a:ext>
            </a:extLst>
          </p:cNvPr>
          <p:cNvSpPr>
            <a:spLocks noChangeAspect="1"/>
          </p:cNvSpPr>
          <p:nvPr/>
        </p:nvSpPr>
        <p:spPr>
          <a:xfrm>
            <a:off x="6717889" y="2975650"/>
            <a:ext cx="347532" cy="3475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B</a:t>
            </a:r>
            <a:endParaRPr lang="en-GB" sz="1400" b="1" dirty="0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EDAEA59-389D-6CA9-D872-FAB4EB6B8CA6}"/>
              </a:ext>
            </a:extLst>
          </p:cNvPr>
          <p:cNvCxnSpPr>
            <a:cxnSpLocks/>
            <a:stCxn id="111" idx="6"/>
            <a:endCxn id="121" idx="2"/>
          </p:cNvCxnSpPr>
          <p:nvPr/>
        </p:nvCxnSpPr>
        <p:spPr>
          <a:xfrm flipV="1">
            <a:off x="6130078" y="3149416"/>
            <a:ext cx="587811" cy="4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56257C92-3C1E-E07C-F6EC-FCDEEFA6784B}"/>
              </a:ext>
            </a:extLst>
          </p:cNvPr>
          <p:cNvSpPr>
            <a:spLocks noChangeAspect="1"/>
          </p:cNvSpPr>
          <p:nvPr/>
        </p:nvSpPr>
        <p:spPr>
          <a:xfrm>
            <a:off x="3028279" y="3660670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1</a:t>
            </a:r>
            <a:endParaRPr lang="en-GB" sz="1400" b="1" dirty="0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A80C47E-A103-9C75-DC15-F3BA6FFBED6C}"/>
              </a:ext>
            </a:extLst>
          </p:cNvPr>
          <p:cNvSpPr>
            <a:spLocks noChangeAspect="1"/>
          </p:cNvSpPr>
          <p:nvPr/>
        </p:nvSpPr>
        <p:spPr>
          <a:xfrm>
            <a:off x="3991381" y="3660670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2</a:t>
            </a:r>
            <a:endParaRPr lang="en-GB" sz="1400" b="1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78663E08-E2B6-18F1-D831-8A51065E385B}"/>
              </a:ext>
            </a:extLst>
          </p:cNvPr>
          <p:cNvSpPr>
            <a:spLocks noChangeAspect="1"/>
          </p:cNvSpPr>
          <p:nvPr/>
        </p:nvSpPr>
        <p:spPr>
          <a:xfrm>
            <a:off x="4949627" y="3660670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3</a:t>
            </a:r>
            <a:endParaRPr lang="en-GB" sz="1400" b="1" dirty="0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7C9917F4-4388-DD4B-3621-282BCC760002}"/>
              </a:ext>
            </a:extLst>
          </p:cNvPr>
          <p:cNvCxnSpPr>
            <a:stCxn id="124" idx="6"/>
            <a:endCxn id="125" idx="2"/>
          </p:cNvCxnSpPr>
          <p:nvPr/>
        </p:nvCxnSpPr>
        <p:spPr>
          <a:xfrm>
            <a:off x="3375811" y="3834436"/>
            <a:ext cx="6155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244BAC5-62DC-9DD5-9D45-25F18E990861}"/>
              </a:ext>
            </a:extLst>
          </p:cNvPr>
          <p:cNvCxnSpPr>
            <a:stCxn id="125" idx="6"/>
            <a:endCxn id="126" idx="2"/>
          </p:cNvCxnSpPr>
          <p:nvPr/>
        </p:nvCxnSpPr>
        <p:spPr>
          <a:xfrm>
            <a:off x="4338913" y="3834436"/>
            <a:ext cx="610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BE9CA205-E9D4-19A9-8F12-54258F4F92D3}"/>
              </a:ext>
            </a:extLst>
          </p:cNvPr>
          <p:cNvSpPr>
            <a:spLocks noChangeAspect="1"/>
          </p:cNvSpPr>
          <p:nvPr/>
        </p:nvSpPr>
        <p:spPr>
          <a:xfrm>
            <a:off x="6658636" y="4305690"/>
            <a:ext cx="347532" cy="3475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A</a:t>
            </a:r>
            <a:endParaRPr lang="en-GB" sz="1400" b="1" dirty="0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7FB69A9-A69D-A438-BC21-2763EF0FDE5C}"/>
              </a:ext>
            </a:extLst>
          </p:cNvPr>
          <p:cNvCxnSpPr>
            <a:cxnSpLocks/>
            <a:stCxn id="133" idx="5"/>
            <a:endCxn id="129" idx="1"/>
          </p:cNvCxnSpPr>
          <p:nvPr/>
        </p:nvCxnSpPr>
        <p:spPr>
          <a:xfrm>
            <a:off x="6196234" y="3957307"/>
            <a:ext cx="513297" cy="399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73C1B59F-3B96-5E37-29C2-B4AE219B2214}"/>
              </a:ext>
            </a:extLst>
          </p:cNvPr>
          <p:cNvSpPr txBox="1"/>
          <p:nvPr/>
        </p:nvSpPr>
        <p:spPr>
          <a:xfrm>
            <a:off x="3406096" y="3510051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main</a:t>
            </a:r>
            <a:endParaRPr lang="en-GB" sz="11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A203FCF-52F4-D214-10A0-78153C5923A0}"/>
              </a:ext>
            </a:extLst>
          </p:cNvPr>
          <p:cNvSpPr txBox="1"/>
          <p:nvPr/>
        </p:nvSpPr>
        <p:spPr>
          <a:xfrm>
            <a:off x="5270537" y="4090311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feature branch</a:t>
            </a:r>
            <a:endParaRPr lang="en-GB" sz="1100" dirty="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8845BEF-2DC9-EA1F-1823-CE2A240095C8}"/>
              </a:ext>
            </a:extLst>
          </p:cNvPr>
          <p:cNvSpPr>
            <a:spLocks noChangeAspect="1"/>
          </p:cNvSpPr>
          <p:nvPr/>
        </p:nvSpPr>
        <p:spPr>
          <a:xfrm>
            <a:off x="5899597" y="3660670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4</a:t>
            </a:r>
            <a:endParaRPr lang="en-GB" sz="1400" b="1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406502A9-E0A6-2F9B-F04B-624B76EA5642}"/>
              </a:ext>
            </a:extLst>
          </p:cNvPr>
          <p:cNvCxnSpPr>
            <a:cxnSpLocks/>
            <a:stCxn id="126" idx="6"/>
            <a:endCxn id="133" idx="2"/>
          </p:cNvCxnSpPr>
          <p:nvPr/>
        </p:nvCxnSpPr>
        <p:spPr>
          <a:xfrm>
            <a:off x="5297159" y="3834436"/>
            <a:ext cx="6024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81BF4D7A-F8BD-5738-0588-FBC03A93FFEC}"/>
              </a:ext>
            </a:extLst>
          </p:cNvPr>
          <p:cNvSpPr>
            <a:spLocks noChangeAspect="1"/>
          </p:cNvSpPr>
          <p:nvPr/>
        </p:nvSpPr>
        <p:spPr>
          <a:xfrm>
            <a:off x="7593979" y="4301219"/>
            <a:ext cx="347532" cy="3475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B</a:t>
            </a:r>
            <a:endParaRPr lang="en-GB" sz="1400" b="1" dirty="0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737CDC74-E77C-0643-975C-C03D7A427C48}"/>
              </a:ext>
            </a:extLst>
          </p:cNvPr>
          <p:cNvCxnSpPr>
            <a:cxnSpLocks/>
            <a:stCxn id="129" idx="6"/>
            <a:endCxn id="135" idx="2"/>
          </p:cNvCxnSpPr>
          <p:nvPr/>
        </p:nvCxnSpPr>
        <p:spPr>
          <a:xfrm flipV="1">
            <a:off x="7006168" y="4474985"/>
            <a:ext cx="587811" cy="4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AFB3041F-4665-1592-A99F-7D95576870D3}"/>
              </a:ext>
            </a:extLst>
          </p:cNvPr>
          <p:cNvSpPr>
            <a:spLocks noChangeAspect="1"/>
          </p:cNvSpPr>
          <p:nvPr/>
        </p:nvSpPr>
        <p:spPr>
          <a:xfrm>
            <a:off x="3028279" y="4947806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1</a:t>
            </a:r>
            <a:endParaRPr lang="en-GB" sz="1400" b="1" dirty="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70589177-1775-937A-861F-B8AB04F89342}"/>
              </a:ext>
            </a:extLst>
          </p:cNvPr>
          <p:cNvSpPr>
            <a:spLocks noChangeAspect="1"/>
          </p:cNvSpPr>
          <p:nvPr/>
        </p:nvSpPr>
        <p:spPr>
          <a:xfrm>
            <a:off x="3991381" y="4947806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2</a:t>
            </a:r>
            <a:endParaRPr lang="en-GB" sz="1400" b="1" dirty="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04E793E9-2705-177B-E051-1C1B2F88C5D5}"/>
              </a:ext>
            </a:extLst>
          </p:cNvPr>
          <p:cNvSpPr>
            <a:spLocks noChangeAspect="1"/>
          </p:cNvSpPr>
          <p:nvPr/>
        </p:nvSpPr>
        <p:spPr>
          <a:xfrm>
            <a:off x="4949627" y="4947806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3</a:t>
            </a:r>
            <a:endParaRPr lang="en-GB" sz="1400" b="1" dirty="0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65FB207-56BE-F636-5C22-8454CE5CA9DB}"/>
              </a:ext>
            </a:extLst>
          </p:cNvPr>
          <p:cNvCxnSpPr>
            <a:stCxn id="142" idx="6"/>
            <a:endCxn id="143" idx="2"/>
          </p:cNvCxnSpPr>
          <p:nvPr/>
        </p:nvCxnSpPr>
        <p:spPr>
          <a:xfrm>
            <a:off x="3375811" y="5121572"/>
            <a:ext cx="6155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D9C226C2-68EE-0D13-1509-D0872735F4B0}"/>
              </a:ext>
            </a:extLst>
          </p:cNvPr>
          <p:cNvCxnSpPr>
            <a:stCxn id="143" idx="6"/>
            <a:endCxn id="144" idx="2"/>
          </p:cNvCxnSpPr>
          <p:nvPr/>
        </p:nvCxnSpPr>
        <p:spPr>
          <a:xfrm>
            <a:off x="4338913" y="5121572"/>
            <a:ext cx="610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54290149-4F91-5B5B-3BA1-369716D172D7}"/>
              </a:ext>
            </a:extLst>
          </p:cNvPr>
          <p:cNvSpPr>
            <a:spLocks noChangeAspect="1"/>
          </p:cNvSpPr>
          <p:nvPr/>
        </p:nvSpPr>
        <p:spPr>
          <a:xfrm>
            <a:off x="6658636" y="5592826"/>
            <a:ext cx="347532" cy="3475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A</a:t>
            </a:r>
            <a:endParaRPr lang="en-GB" sz="1400" b="1" dirty="0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6D5F726D-65DB-E8F3-8128-4A6AFFEEB898}"/>
              </a:ext>
            </a:extLst>
          </p:cNvPr>
          <p:cNvCxnSpPr>
            <a:cxnSpLocks/>
            <a:stCxn id="149" idx="5"/>
            <a:endCxn id="147" idx="1"/>
          </p:cNvCxnSpPr>
          <p:nvPr/>
        </p:nvCxnSpPr>
        <p:spPr>
          <a:xfrm>
            <a:off x="6196234" y="5244443"/>
            <a:ext cx="513297" cy="399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>
            <a:extLst>
              <a:ext uri="{FF2B5EF4-FFF2-40B4-BE49-F238E27FC236}">
                <a16:creationId xmlns:a16="http://schemas.microsoft.com/office/drawing/2014/main" id="{A0E503FC-6965-09E8-8AF8-041AAC86AD45}"/>
              </a:ext>
            </a:extLst>
          </p:cNvPr>
          <p:cNvSpPr>
            <a:spLocks noChangeAspect="1"/>
          </p:cNvSpPr>
          <p:nvPr/>
        </p:nvSpPr>
        <p:spPr>
          <a:xfrm>
            <a:off x="5899597" y="4947806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4</a:t>
            </a:r>
            <a:endParaRPr lang="en-GB" sz="1400" b="1" dirty="0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D59A4AA3-D6D8-5E29-C009-EB6FC83C09F8}"/>
              </a:ext>
            </a:extLst>
          </p:cNvPr>
          <p:cNvCxnSpPr>
            <a:cxnSpLocks/>
            <a:stCxn id="144" idx="6"/>
            <a:endCxn id="149" idx="2"/>
          </p:cNvCxnSpPr>
          <p:nvPr/>
        </p:nvCxnSpPr>
        <p:spPr>
          <a:xfrm>
            <a:off x="5297159" y="5121572"/>
            <a:ext cx="6024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1A0105A3-9D6D-9363-A65E-3DDC32D741A6}"/>
              </a:ext>
            </a:extLst>
          </p:cNvPr>
          <p:cNvSpPr>
            <a:spLocks noChangeAspect="1"/>
          </p:cNvSpPr>
          <p:nvPr/>
        </p:nvSpPr>
        <p:spPr>
          <a:xfrm>
            <a:off x="7593979" y="5588355"/>
            <a:ext cx="347532" cy="3475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B</a:t>
            </a:r>
            <a:endParaRPr lang="en-GB" sz="1400" b="1" dirty="0"/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A759A217-FCE5-8629-55B8-889BB974C30B}"/>
              </a:ext>
            </a:extLst>
          </p:cNvPr>
          <p:cNvCxnSpPr>
            <a:cxnSpLocks/>
            <a:stCxn id="147" idx="6"/>
            <a:endCxn id="151" idx="2"/>
          </p:cNvCxnSpPr>
          <p:nvPr/>
        </p:nvCxnSpPr>
        <p:spPr>
          <a:xfrm flipV="1">
            <a:off x="7006168" y="5762121"/>
            <a:ext cx="587811" cy="4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2">
            <a:extLst>
              <a:ext uri="{FF2B5EF4-FFF2-40B4-BE49-F238E27FC236}">
                <a16:creationId xmlns:a16="http://schemas.microsoft.com/office/drawing/2014/main" id="{6455864D-BF9C-6B80-2059-7763E8A17A1D}"/>
              </a:ext>
            </a:extLst>
          </p:cNvPr>
          <p:cNvSpPr>
            <a:spLocks noChangeAspect="1"/>
          </p:cNvSpPr>
          <p:nvPr/>
        </p:nvSpPr>
        <p:spPr>
          <a:xfrm>
            <a:off x="6860361" y="4947806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A</a:t>
            </a:r>
            <a:endParaRPr lang="en-GB" sz="1400" b="1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217BA8AD-F3C7-69FD-24A0-88BECAC916C6}"/>
              </a:ext>
            </a:extLst>
          </p:cNvPr>
          <p:cNvSpPr>
            <a:spLocks noChangeAspect="1"/>
          </p:cNvSpPr>
          <p:nvPr/>
        </p:nvSpPr>
        <p:spPr>
          <a:xfrm>
            <a:off x="7795704" y="4947806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B</a:t>
            </a:r>
            <a:endParaRPr lang="en-GB" sz="1400" b="1" dirty="0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F2B9CE0-F108-A247-F0E8-0C9552A1C04D}"/>
              </a:ext>
            </a:extLst>
          </p:cNvPr>
          <p:cNvCxnSpPr>
            <a:cxnSpLocks/>
            <a:stCxn id="153" idx="6"/>
            <a:endCxn id="154" idx="2"/>
          </p:cNvCxnSpPr>
          <p:nvPr/>
        </p:nvCxnSpPr>
        <p:spPr>
          <a:xfrm>
            <a:off x="7207893" y="5121572"/>
            <a:ext cx="5878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161E788-6312-3FC4-381E-604FF00F402E}"/>
              </a:ext>
            </a:extLst>
          </p:cNvPr>
          <p:cNvCxnSpPr>
            <a:cxnSpLocks/>
            <a:stCxn id="149" idx="6"/>
            <a:endCxn id="153" idx="2"/>
          </p:cNvCxnSpPr>
          <p:nvPr/>
        </p:nvCxnSpPr>
        <p:spPr>
          <a:xfrm>
            <a:off x="6247129" y="5121572"/>
            <a:ext cx="6132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9" name="Graphic 158" descr="Document with solid fill">
            <a:extLst>
              <a:ext uri="{FF2B5EF4-FFF2-40B4-BE49-F238E27FC236}">
                <a16:creationId xmlns:a16="http://schemas.microsoft.com/office/drawing/2014/main" id="{EA03F10D-4C8E-302B-0053-38216D47E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5793" y="6164925"/>
            <a:ext cx="475488" cy="475488"/>
          </a:xfrm>
          <a:prstGeom prst="rect">
            <a:avLst/>
          </a:prstGeom>
        </p:spPr>
      </p:pic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91CB7CF0-12B6-E73B-058A-4F8DE3C352B7}"/>
              </a:ext>
            </a:extLst>
          </p:cNvPr>
          <p:cNvCxnSpPr>
            <a:cxnSpLocks/>
          </p:cNvCxnSpPr>
          <p:nvPr/>
        </p:nvCxnSpPr>
        <p:spPr>
          <a:xfrm flipV="1">
            <a:off x="2424416" y="6397659"/>
            <a:ext cx="616998" cy="5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3A4AA02B-85D2-8366-976E-559E96D1EA0F}"/>
              </a:ext>
            </a:extLst>
          </p:cNvPr>
          <p:cNvSpPr>
            <a:spLocks noChangeAspect="1"/>
          </p:cNvSpPr>
          <p:nvPr/>
        </p:nvSpPr>
        <p:spPr>
          <a:xfrm>
            <a:off x="3041414" y="6206364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1</a:t>
            </a:r>
            <a:endParaRPr lang="en-GB" sz="1400" b="1" dirty="0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0DC4DF0F-EEBB-C496-C5C8-9532CB199243}"/>
              </a:ext>
            </a:extLst>
          </p:cNvPr>
          <p:cNvSpPr>
            <a:spLocks noChangeAspect="1"/>
          </p:cNvSpPr>
          <p:nvPr/>
        </p:nvSpPr>
        <p:spPr>
          <a:xfrm>
            <a:off x="4004516" y="6206364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2</a:t>
            </a:r>
            <a:endParaRPr lang="en-GB" sz="1400" b="1" dirty="0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2D5B6500-0BEC-7B84-AD0D-7E2704E7849E}"/>
              </a:ext>
            </a:extLst>
          </p:cNvPr>
          <p:cNvSpPr>
            <a:spLocks noChangeAspect="1"/>
          </p:cNvSpPr>
          <p:nvPr/>
        </p:nvSpPr>
        <p:spPr>
          <a:xfrm>
            <a:off x="4962762" y="6206364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3</a:t>
            </a:r>
            <a:endParaRPr lang="en-GB" sz="1400" b="1" dirty="0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7AFA723F-4A90-8850-348E-4DF191C32E0E}"/>
              </a:ext>
            </a:extLst>
          </p:cNvPr>
          <p:cNvCxnSpPr>
            <a:stCxn id="161" idx="6"/>
            <a:endCxn id="162" idx="2"/>
          </p:cNvCxnSpPr>
          <p:nvPr/>
        </p:nvCxnSpPr>
        <p:spPr>
          <a:xfrm>
            <a:off x="3388946" y="6380130"/>
            <a:ext cx="6155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00E173F2-67AB-07F9-F6C8-DE6064F855D6}"/>
              </a:ext>
            </a:extLst>
          </p:cNvPr>
          <p:cNvCxnSpPr>
            <a:stCxn id="162" idx="6"/>
            <a:endCxn id="163" idx="2"/>
          </p:cNvCxnSpPr>
          <p:nvPr/>
        </p:nvCxnSpPr>
        <p:spPr>
          <a:xfrm>
            <a:off x="4352048" y="6380130"/>
            <a:ext cx="610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947C2228-818D-2750-06E6-70D46C7721D9}"/>
              </a:ext>
            </a:extLst>
          </p:cNvPr>
          <p:cNvSpPr>
            <a:spLocks noChangeAspect="1"/>
          </p:cNvSpPr>
          <p:nvPr/>
        </p:nvSpPr>
        <p:spPr>
          <a:xfrm>
            <a:off x="5912732" y="6206364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4</a:t>
            </a:r>
            <a:endParaRPr lang="en-GB" sz="1400" b="1" dirty="0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29E9B0E5-7040-EBAB-30A3-665C7AE3FBB7}"/>
              </a:ext>
            </a:extLst>
          </p:cNvPr>
          <p:cNvCxnSpPr>
            <a:cxnSpLocks/>
            <a:stCxn id="163" idx="6"/>
            <a:endCxn id="166" idx="2"/>
          </p:cNvCxnSpPr>
          <p:nvPr/>
        </p:nvCxnSpPr>
        <p:spPr>
          <a:xfrm>
            <a:off x="5310294" y="6380130"/>
            <a:ext cx="6024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B6AE2C86-772E-1919-915C-D42D1D33E11C}"/>
              </a:ext>
            </a:extLst>
          </p:cNvPr>
          <p:cNvSpPr>
            <a:spLocks noChangeAspect="1"/>
          </p:cNvSpPr>
          <p:nvPr/>
        </p:nvSpPr>
        <p:spPr>
          <a:xfrm>
            <a:off x="6873496" y="6206364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A</a:t>
            </a:r>
            <a:endParaRPr lang="en-GB" sz="1400" b="1" dirty="0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83FC7544-1EE9-0B82-B4CB-DEFCFC31001E}"/>
              </a:ext>
            </a:extLst>
          </p:cNvPr>
          <p:cNvSpPr>
            <a:spLocks noChangeAspect="1"/>
          </p:cNvSpPr>
          <p:nvPr/>
        </p:nvSpPr>
        <p:spPr>
          <a:xfrm>
            <a:off x="7808839" y="6206364"/>
            <a:ext cx="347532" cy="3475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B</a:t>
            </a:r>
            <a:endParaRPr lang="en-GB" sz="1400" b="1" dirty="0"/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BD7772A2-F586-C66B-7E4E-58975F976C80}"/>
              </a:ext>
            </a:extLst>
          </p:cNvPr>
          <p:cNvCxnSpPr>
            <a:cxnSpLocks/>
            <a:stCxn id="168" idx="6"/>
            <a:endCxn id="169" idx="2"/>
          </p:cNvCxnSpPr>
          <p:nvPr/>
        </p:nvCxnSpPr>
        <p:spPr>
          <a:xfrm>
            <a:off x="7221028" y="6380130"/>
            <a:ext cx="5878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F7423B44-4122-F891-51D6-9212D9D804EB}"/>
              </a:ext>
            </a:extLst>
          </p:cNvPr>
          <p:cNvCxnSpPr>
            <a:cxnSpLocks/>
            <a:stCxn id="166" idx="6"/>
            <a:endCxn id="168" idx="2"/>
          </p:cNvCxnSpPr>
          <p:nvPr/>
        </p:nvCxnSpPr>
        <p:spPr>
          <a:xfrm>
            <a:off x="6260264" y="6380130"/>
            <a:ext cx="6132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178CBED9-7FFF-595B-2A17-3344EF50D422}"/>
              </a:ext>
            </a:extLst>
          </p:cNvPr>
          <p:cNvSpPr txBox="1"/>
          <p:nvPr/>
        </p:nvSpPr>
        <p:spPr>
          <a:xfrm>
            <a:off x="395260" y="6182215"/>
            <a:ext cx="12466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Delete feature branch</a:t>
            </a:r>
            <a:endParaRPr lang="en-GB" sz="11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4612796-9616-C3E7-695E-C9ADCB345AE6}"/>
              </a:ext>
            </a:extLst>
          </p:cNvPr>
          <p:cNvSpPr txBox="1"/>
          <p:nvPr/>
        </p:nvSpPr>
        <p:spPr>
          <a:xfrm>
            <a:off x="8700456" y="6249325"/>
            <a:ext cx="19774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git checkout</a:t>
            </a:r>
            <a:r>
              <a:rPr lang="en-GB" sz="1100" dirty="0"/>
              <a:t> –d &lt;branch&gt;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9C91F6C-2365-42A1-D61E-48DD7F051ED5}"/>
              </a:ext>
            </a:extLst>
          </p:cNvPr>
          <p:cNvSpPr txBox="1"/>
          <p:nvPr/>
        </p:nvSpPr>
        <p:spPr>
          <a:xfrm>
            <a:off x="8700456" y="6455952"/>
            <a:ext cx="24868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git checkout</a:t>
            </a:r>
            <a:r>
              <a:rPr lang="en-GB" sz="1100" dirty="0"/>
              <a:t> –delete origin &lt;branch&gt;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7E63AC9-F09A-39B5-9E7B-2C742A08539C}"/>
              </a:ext>
            </a:extLst>
          </p:cNvPr>
          <p:cNvSpPr txBox="1"/>
          <p:nvPr/>
        </p:nvSpPr>
        <p:spPr>
          <a:xfrm>
            <a:off x="9437318" y="2740487"/>
            <a:ext cx="2486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If both changes are to main branch and one change has pushed to remote repo, use git fetch before rebase. Fix the conflicts. Then rebase.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1992598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F7DA53-A060-322B-4154-7907067A9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136369"/>
              </p:ext>
            </p:extLst>
          </p:nvPr>
        </p:nvGraphicFramePr>
        <p:xfrm>
          <a:off x="1162424" y="952749"/>
          <a:ext cx="9864164" cy="35509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66041">
                  <a:extLst>
                    <a:ext uri="{9D8B030D-6E8A-4147-A177-3AD203B41FA5}">
                      <a16:colId xmlns:a16="http://schemas.microsoft.com/office/drawing/2014/main" val="3921774411"/>
                    </a:ext>
                  </a:extLst>
                </a:gridCol>
                <a:gridCol w="2466041">
                  <a:extLst>
                    <a:ext uri="{9D8B030D-6E8A-4147-A177-3AD203B41FA5}">
                      <a16:colId xmlns:a16="http://schemas.microsoft.com/office/drawing/2014/main" val="494031503"/>
                    </a:ext>
                  </a:extLst>
                </a:gridCol>
                <a:gridCol w="2466041">
                  <a:extLst>
                    <a:ext uri="{9D8B030D-6E8A-4147-A177-3AD203B41FA5}">
                      <a16:colId xmlns:a16="http://schemas.microsoft.com/office/drawing/2014/main" val="3344982144"/>
                    </a:ext>
                  </a:extLst>
                </a:gridCol>
                <a:gridCol w="2466041">
                  <a:extLst>
                    <a:ext uri="{9D8B030D-6E8A-4147-A177-3AD203B41FA5}">
                      <a16:colId xmlns:a16="http://schemas.microsoft.com/office/drawing/2014/main" val="1520018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Merge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Rebase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Squash</a:t>
                      </a:r>
                      <a:endParaRPr lang="en-GB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112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Large number of merges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Small number of merges</a:t>
                      </a:r>
                      <a:endParaRPr lang="en-GB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600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History is retained, but a large number of commits mean difficult to find the bug.</a:t>
                      </a:r>
                    </a:p>
                    <a:p>
                      <a:r>
                        <a:rPr lang="en-AU" sz="1100" dirty="0"/>
                        <a:t>WIP commits also merged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Rebase interactive allows selection of merge commits</a:t>
                      </a:r>
                    </a:p>
                    <a:p>
                      <a:r>
                        <a:rPr lang="en-AU" sz="1100" dirty="0"/>
                        <a:t>rebase –I allows: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dirty="0"/>
                        <a:t>Squash commits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dirty="0"/>
                        <a:t>Change commit messages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dirty="0"/>
                        <a:t>Add file or edit content or drop content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1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100" dirty="0"/>
                        <a:t>Options on i: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dirty="0"/>
                        <a:t>Pick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dirty="0"/>
                        <a:t>Reword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dirty="0"/>
                        <a:t>Edit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 dirty="0"/>
                        <a:t>Squash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100"/>
                        <a:t>drop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History is lost, finding commit with bug is difficult</a:t>
                      </a:r>
                    </a:p>
                    <a:p>
                      <a:r>
                        <a:rPr lang="en-AU" sz="1100" dirty="0"/>
                        <a:t>WIP commits also merged</a:t>
                      </a:r>
                      <a:endParaRPr lang="en-GB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55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Good idea for frequent commits</a:t>
                      </a:r>
                      <a:endParaRPr lang="en-GB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297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15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2CAD2F-00D7-7574-0831-0D724D78A948}"/>
              </a:ext>
            </a:extLst>
          </p:cNvPr>
          <p:cNvSpPr txBox="1"/>
          <p:nvPr/>
        </p:nvSpPr>
        <p:spPr>
          <a:xfrm>
            <a:off x="2519082" y="1882588"/>
            <a:ext cx="4766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GITHUB portfolio</a:t>
            </a:r>
          </a:p>
          <a:p>
            <a:r>
              <a:rPr lang="en-AU" dirty="0"/>
              <a:t>Create new repo with &lt;</a:t>
            </a:r>
            <a:r>
              <a:rPr lang="en-AU" dirty="0" err="1"/>
              <a:t>github</a:t>
            </a:r>
            <a:r>
              <a:rPr lang="en-AU" dirty="0"/>
              <a:t> name&gt;github.io</a:t>
            </a:r>
          </a:p>
          <a:p>
            <a:r>
              <a:rPr lang="en-GB" dirty="0"/>
              <a:t>Create a file in the repo “_</a:t>
            </a:r>
            <a:r>
              <a:rPr lang="en-GB" dirty="0" err="1"/>
              <a:t>config.yml</a:t>
            </a:r>
            <a:r>
              <a:rPr lang="en-GB"/>
              <a:t>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3602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2365</TotalTime>
  <Words>691</Words>
  <Application>Microsoft Office PowerPoint</Application>
  <PresentationFormat>Widescreen</PresentationFormat>
  <Paragraphs>154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Shanbhag</dc:creator>
  <cp:lastModifiedBy>Rajesh Shanbhag</cp:lastModifiedBy>
  <cp:revision>82</cp:revision>
  <dcterms:created xsi:type="dcterms:W3CDTF">2025-01-27T02:41:22Z</dcterms:created>
  <dcterms:modified xsi:type="dcterms:W3CDTF">2025-02-04T05:54:28Z</dcterms:modified>
</cp:coreProperties>
</file>